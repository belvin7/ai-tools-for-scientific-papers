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306" r:id="rId2"/>
    <p:sldId id="308" r:id="rId3"/>
    <p:sldId id="309" r:id="rId4"/>
    <p:sldId id="330" r:id="rId5"/>
    <p:sldId id="328" r:id="rId6"/>
    <p:sldId id="313" r:id="rId7"/>
    <p:sldId id="352" r:id="rId8"/>
    <p:sldId id="315" r:id="rId9"/>
    <p:sldId id="332" r:id="rId10"/>
    <p:sldId id="333" r:id="rId11"/>
    <p:sldId id="334" r:id="rId12"/>
    <p:sldId id="336" r:id="rId13"/>
    <p:sldId id="338" r:id="rId14"/>
    <p:sldId id="342" r:id="rId15"/>
    <p:sldId id="343" r:id="rId16"/>
    <p:sldId id="345" r:id="rId17"/>
    <p:sldId id="339" r:id="rId18"/>
    <p:sldId id="323" r:id="rId19"/>
    <p:sldId id="325" r:id="rId20"/>
    <p:sldId id="347" r:id="rId21"/>
    <p:sldId id="355" r:id="rId22"/>
    <p:sldId id="346" r:id="rId23"/>
    <p:sldId id="340" r:id="rId24"/>
    <p:sldId id="349" r:id="rId25"/>
    <p:sldId id="353" r:id="rId26"/>
    <p:sldId id="354" r:id="rId27"/>
    <p:sldId id="356" r:id="rId28"/>
  </p:sldIdLst>
  <p:sldSz cx="9144000" cy="5143500" type="screen16x9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Lucida Grande CY" pitchFamily="34" charset="0"/>
        <a:ea typeface="ヒラギノ角ゴ Pro W3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FC87B22-D19F-4F75-A6D7-D686140BD44C}">
          <p14:sldIdLst>
            <p14:sldId id="306"/>
            <p14:sldId id="308"/>
            <p14:sldId id="309"/>
            <p14:sldId id="330"/>
            <p14:sldId id="328"/>
            <p14:sldId id="313"/>
            <p14:sldId id="352"/>
            <p14:sldId id="315"/>
            <p14:sldId id="332"/>
            <p14:sldId id="333"/>
            <p14:sldId id="334"/>
            <p14:sldId id="336"/>
            <p14:sldId id="338"/>
            <p14:sldId id="342"/>
            <p14:sldId id="343"/>
            <p14:sldId id="345"/>
            <p14:sldId id="339"/>
            <p14:sldId id="323"/>
            <p14:sldId id="325"/>
            <p14:sldId id="347"/>
            <p14:sldId id="355"/>
            <p14:sldId id="346"/>
            <p14:sldId id="340"/>
            <p14:sldId id="349"/>
            <p14:sldId id="353"/>
            <p14:sldId id="354"/>
            <p14:sldId id="356"/>
          </p14:sldIdLst>
        </p14:section>
        <p14:section name="Abschnitt ohne Titel" id="{9D98F3F7-9ACA-4B7F-B3A1-C117E2506BED}">
          <p14:sldIdLst/>
        </p14:section>
        <p14:section name="Abschnitt ohne Titel" id="{9D15AB41-CBAA-4D1F-8063-35982A87972A}">
          <p14:sldIdLst/>
        </p14:section>
        <p14:section name="Zukunft" id="{F34156FB-52E0-4251-B579-072A628AE77F}">
          <p14:sldIdLst/>
        </p14:section>
        <p14:section name="Abschnitt ohne Titel" id="{536AB44C-4467-42B4-961F-E7BC678D56F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o Berg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4" autoAdjust="0"/>
    <p:restoredTop sz="69426" autoAdjust="0"/>
  </p:normalViewPr>
  <p:slideViewPr>
    <p:cSldViewPr snapToObjects="1">
      <p:cViewPr varScale="1">
        <p:scale>
          <a:sx n="132" d="100"/>
          <a:sy n="132" d="100"/>
        </p:scale>
        <p:origin x="126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8807E0-5D2E-4562-82B8-1224FBA6BE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CED172-9625-403D-B7E1-757583B615E1}">
      <dgm:prSet/>
      <dgm:spPr>
        <a:solidFill>
          <a:schemeClr val="accent2">
            <a:lumMod val="90000"/>
            <a:lumOff val="10000"/>
          </a:schemeClr>
        </a:solidFill>
      </dgm:spPr>
      <dgm:t>
        <a:bodyPr/>
        <a:lstStyle/>
        <a:p>
          <a:r>
            <a:rPr lang="de-DE" dirty="0"/>
            <a:t>Vergleich verschiedener KI-TOOLS</a:t>
          </a:r>
          <a:endParaRPr lang="en-US" dirty="0"/>
        </a:p>
      </dgm:t>
    </dgm:pt>
    <dgm:pt modelId="{EE6AB217-E365-4A9C-A958-53F3794300D6}" type="parTrans" cxnId="{AC975E7F-73E2-4E8D-8A5B-DB20786400F9}">
      <dgm:prSet/>
      <dgm:spPr/>
      <dgm:t>
        <a:bodyPr/>
        <a:lstStyle/>
        <a:p>
          <a:endParaRPr lang="en-US"/>
        </a:p>
      </dgm:t>
    </dgm:pt>
    <dgm:pt modelId="{1F938A74-097E-48F6-970F-91D62149AA5B}" type="sibTrans" cxnId="{AC975E7F-73E2-4E8D-8A5B-DB20786400F9}">
      <dgm:prSet/>
      <dgm:spPr/>
      <dgm:t>
        <a:bodyPr/>
        <a:lstStyle/>
        <a:p>
          <a:endParaRPr lang="en-US"/>
        </a:p>
      </dgm:t>
    </dgm:pt>
    <dgm:pt modelId="{A6063DC7-4D94-40D6-A325-996AD7530527}">
      <dgm:prSet/>
      <dgm:spPr>
        <a:solidFill>
          <a:srgbClr val="00B0F0"/>
        </a:solidFill>
      </dgm:spPr>
      <dgm:t>
        <a:bodyPr/>
        <a:lstStyle/>
        <a:p>
          <a:r>
            <a:rPr lang="de-DE" dirty="0"/>
            <a:t>Persönliche Präferenzen</a:t>
          </a:r>
          <a:endParaRPr lang="en-US" dirty="0"/>
        </a:p>
      </dgm:t>
    </dgm:pt>
    <dgm:pt modelId="{E1D500FE-73C7-4376-B8FB-DB0CAF0BC551}" type="sibTrans" cxnId="{25C5D365-8DB0-415E-A8F0-B4073FEBD17F}">
      <dgm:prSet/>
      <dgm:spPr/>
      <dgm:t>
        <a:bodyPr/>
        <a:lstStyle/>
        <a:p>
          <a:endParaRPr lang="en-US"/>
        </a:p>
      </dgm:t>
    </dgm:pt>
    <dgm:pt modelId="{8A9EE2B9-C7D8-4E15-BE58-8158A86C3BB8}" type="parTrans" cxnId="{25C5D365-8DB0-415E-A8F0-B4073FEBD17F}">
      <dgm:prSet/>
      <dgm:spPr/>
      <dgm:t>
        <a:bodyPr/>
        <a:lstStyle/>
        <a:p>
          <a:endParaRPr lang="en-US"/>
        </a:p>
      </dgm:t>
    </dgm:pt>
    <dgm:pt modelId="{6B2DA21C-4B4C-4292-B236-93221527DEB4}">
      <dgm:prSet/>
      <dgm:spPr>
        <a:solidFill>
          <a:schemeClr val="accent2">
            <a:lumMod val="75000"/>
            <a:lumOff val="25000"/>
          </a:schemeClr>
        </a:solidFill>
      </dgm:spPr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de-DE" dirty="0"/>
            <a:t>Effizienz und Qualitätssteigerung durch KI ?</a:t>
          </a:r>
          <a:endParaRPr lang="en-US" dirty="0"/>
        </a:p>
      </dgm:t>
    </dgm:pt>
    <dgm:pt modelId="{29F2348E-AA2C-4D66-96F5-CA28131B48E6}" type="parTrans" cxnId="{C47EB950-72D4-44A4-ACFB-6035E46BEABF}">
      <dgm:prSet/>
      <dgm:spPr/>
      <dgm:t>
        <a:bodyPr/>
        <a:lstStyle/>
        <a:p>
          <a:endParaRPr lang="en-US"/>
        </a:p>
      </dgm:t>
    </dgm:pt>
    <dgm:pt modelId="{4D4C2083-3114-41F7-9821-0F3960F44DCA}" type="sibTrans" cxnId="{C47EB950-72D4-44A4-ACFB-6035E46BEABF}">
      <dgm:prSet/>
      <dgm:spPr/>
      <dgm:t>
        <a:bodyPr/>
        <a:lstStyle/>
        <a:p>
          <a:endParaRPr lang="en-US"/>
        </a:p>
      </dgm:t>
    </dgm:pt>
    <dgm:pt modelId="{9DA72718-F29C-4CE1-9C16-6CDEE9D40746}">
      <dgm:prSet/>
      <dgm:spPr>
        <a:solidFill>
          <a:schemeClr val="accent2">
            <a:lumMod val="50000"/>
            <a:lumOff val="50000"/>
          </a:schemeClr>
        </a:solidFill>
      </dgm:spPr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de-DE"/>
            <a:t>Plagiat oder Eigenleistung ?</a:t>
          </a:r>
          <a:endParaRPr lang="en-US"/>
        </a:p>
      </dgm:t>
    </dgm:pt>
    <dgm:pt modelId="{6A222D7C-972F-42BB-B98F-515C045C04DF}" type="parTrans" cxnId="{662AD130-7341-4FFC-B6F2-EAFA2640B4AD}">
      <dgm:prSet/>
      <dgm:spPr/>
      <dgm:t>
        <a:bodyPr/>
        <a:lstStyle/>
        <a:p>
          <a:endParaRPr lang="en-US"/>
        </a:p>
      </dgm:t>
    </dgm:pt>
    <dgm:pt modelId="{1A9FCC2A-D019-4A01-9196-43502C53EBD8}" type="sibTrans" cxnId="{662AD130-7341-4FFC-B6F2-EAFA2640B4AD}">
      <dgm:prSet/>
      <dgm:spPr/>
      <dgm:t>
        <a:bodyPr/>
        <a:lstStyle/>
        <a:p>
          <a:endParaRPr lang="en-US"/>
        </a:p>
      </dgm:t>
    </dgm:pt>
    <dgm:pt modelId="{7ADB12E1-86A7-4706-9F0A-9BF813058DC2}" type="pres">
      <dgm:prSet presAssocID="{1F8807E0-5D2E-4562-82B8-1224FBA6BE32}" presName="linear" presStyleCnt="0">
        <dgm:presLayoutVars>
          <dgm:animLvl val="lvl"/>
          <dgm:resizeHandles val="exact"/>
        </dgm:presLayoutVars>
      </dgm:prSet>
      <dgm:spPr/>
    </dgm:pt>
    <dgm:pt modelId="{203F281B-60C9-4D98-BB75-EE81972D4CAC}" type="pres">
      <dgm:prSet presAssocID="{60CED172-9625-403D-B7E1-757583B615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3B4148-4D51-42B7-BFD8-E0216FF3DE36}" type="pres">
      <dgm:prSet presAssocID="{1F938A74-097E-48F6-970F-91D62149AA5B}" presName="spacer" presStyleCnt="0"/>
      <dgm:spPr/>
    </dgm:pt>
    <dgm:pt modelId="{DB5039E4-6599-487D-9D99-715890630A19}" type="pres">
      <dgm:prSet presAssocID="{6B2DA21C-4B4C-4292-B236-93221527DE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F3DA78-7037-4B6A-8820-8468A02E3544}" type="pres">
      <dgm:prSet presAssocID="{4D4C2083-3114-41F7-9821-0F3960F44DCA}" presName="spacer" presStyleCnt="0"/>
      <dgm:spPr/>
    </dgm:pt>
    <dgm:pt modelId="{CA4CAA26-B7EA-4893-81C7-F63067BF32C2}" type="pres">
      <dgm:prSet presAssocID="{9DA72718-F29C-4CE1-9C16-6CDEE9D407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1EBF54F-5AF8-42D6-B677-3AEC9857F8F8}" type="pres">
      <dgm:prSet presAssocID="{1A9FCC2A-D019-4A01-9196-43502C53EBD8}" presName="spacer" presStyleCnt="0"/>
      <dgm:spPr/>
    </dgm:pt>
    <dgm:pt modelId="{BE318E21-437E-47B8-8ECC-78767808E697}" type="pres">
      <dgm:prSet presAssocID="{A6063DC7-4D94-40D6-A325-996AD75305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2AD130-7341-4FFC-B6F2-EAFA2640B4AD}" srcId="{1F8807E0-5D2E-4562-82B8-1224FBA6BE32}" destId="{9DA72718-F29C-4CE1-9C16-6CDEE9D40746}" srcOrd="2" destOrd="0" parTransId="{6A222D7C-972F-42BB-B98F-515C045C04DF}" sibTransId="{1A9FCC2A-D019-4A01-9196-43502C53EBD8}"/>
    <dgm:cxn modelId="{25C5D365-8DB0-415E-A8F0-B4073FEBD17F}" srcId="{1F8807E0-5D2E-4562-82B8-1224FBA6BE32}" destId="{A6063DC7-4D94-40D6-A325-996AD7530527}" srcOrd="3" destOrd="0" parTransId="{8A9EE2B9-C7D8-4E15-BE58-8158A86C3BB8}" sibTransId="{E1D500FE-73C7-4376-B8FB-DB0CAF0BC551}"/>
    <dgm:cxn modelId="{C47EB950-72D4-44A4-ACFB-6035E46BEABF}" srcId="{1F8807E0-5D2E-4562-82B8-1224FBA6BE32}" destId="{6B2DA21C-4B4C-4292-B236-93221527DEB4}" srcOrd="1" destOrd="0" parTransId="{29F2348E-AA2C-4D66-96F5-CA28131B48E6}" sibTransId="{4D4C2083-3114-41F7-9821-0F3960F44DCA}"/>
    <dgm:cxn modelId="{25C06C7C-5993-404F-9127-60CE7C4174A2}" type="presOf" srcId="{A6063DC7-4D94-40D6-A325-996AD7530527}" destId="{BE318E21-437E-47B8-8ECC-78767808E697}" srcOrd="0" destOrd="0" presId="urn:microsoft.com/office/officeart/2005/8/layout/vList2"/>
    <dgm:cxn modelId="{AC975E7F-73E2-4E8D-8A5B-DB20786400F9}" srcId="{1F8807E0-5D2E-4562-82B8-1224FBA6BE32}" destId="{60CED172-9625-403D-B7E1-757583B615E1}" srcOrd="0" destOrd="0" parTransId="{EE6AB217-E365-4A9C-A958-53F3794300D6}" sibTransId="{1F938A74-097E-48F6-970F-91D62149AA5B}"/>
    <dgm:cxn modelId="{41F3FEB6-2C01-459C-A5A6-CAE801641CEB}" type="presOf" srcId="{6B2DA21C-4B4C-4292-B236-93221527DEB4}" destId="{DB5039E4-6599-487D-9D99-715890630A19}" srcOrd="0" destOrd="0" presId="urn:microsoft.com/office/officeart/2005/8/layout/vList2"/>
    <dgm:cxn modelId="{FB23E8D9-E0F9-4A25-8157-AC3DD730A955}" type="presOf" srcId="{9DA72718-F29C-4CE1-9C16-6CDEE9D40746}" destId="{CA4CAA26-B7EA-4893-81C7-F63067BF32C2}" srcOrd="0" destOrd="0" presId="urn:microsoft.com/office/officeart/2005/8/layout/vList2"/>
    <dgm:cxn modelId="{3C96CEEC-A77D-4930-95A4-EB10ACB479D9}" type="presOf" srcId="{1F8807E0-5D2E-4562-82B8-1224FBA6BE32}" destId="{7ADB12E1-86A7-4706-9F0A-9BF813058DC2}" srcOrd="0" destOrd="0" presId="urn:microsoft.com/office/officeart/2005/8/layout/vList2"/>
    <dgm:cxn modelId="{BB7EA8F4-026D-4932-97C7-81913B66853C}" type="presOf" srcId="{60CED172-9625-403D-B7E1-757583B615E1}" destId="{203F281B-60C9-4D98-BB75-EE81972D4CAC}" srcOrd="0" destOrd="0" presId="urn:microsoft.com/office/officeart/2005/8/layout/vList2"/>
    <dgm:cxn modelId="{5DC2611E-C7D6-4A68-A686-E8348A2B2089}" type="presParOf" srcId="{7ADB12E1-86A7-4706-9F0A-9BF813058DC2}" destId="{203F281B-60C9-4D98-BB75-EE81972D4CAC}" srcOrd="0" destOrd="0" presId="urn:microsoft.com/office/officeart/2005/8/layout/vList2"/>
    <dgm:cxn modelId="{C150772C-4F0C-4762-AC7C-2CFBC0B07594}" type="presParOf" srcId="{7ADB12E1-86A7-4706-9F0A-9BF813058DC2}" destId="{323B4148-4D51-42B7-BFD8-E0216FF3DE36}" srcOrd="1" destOrd="0" presId="urn:microsoft.com/office/officeart/2005/8/layout/vList2"/>
    <dgm:cxn modelId="{9EB13F20-1A7D-4424-A0AB-199689E5ADAC}" type="presParOf" srcId="{7ADB12E1-86A7-4706-9F0A-9BF813058DC2}" destId="{DB5039E4-6599-487D-9D99-715890630A19}" srcOrd="2" destOrd="0" presId="urn:microsoft.com/office/officeart/2005/8/layout/vList2"/>
    <dgm:cxn modelId="{CCF7801B-EB7D-4786-8F66-A7B13B98C942}" type="presParOf" srcId="{7ADB12E1-86A7-4706-9F0A-9BF813058DC2}" destId="{72F3DA78-7037-4B6A-8820-8468A02E3544}" srcOrd="3" destOrd="0" presId="urn:microsoft.com/office/officeart/2005/8/layout/vList2"/>
    <dgm:cxn modelId="{A5D64E4E-C13B-4894-B39B-51DF0838DDA9}" type="presParOf" srcId="{7ADB12E1-86A7-4706-9F0A-9BF813058DC2}" destId="{CA4CAA26-B7EA-4893-81C7-F63067BF32C2}" srcOrd="4" destOrd="0" presId="urn:microsoft.com/office/officeart/2005/8/layout/vList2"/>
    <dgm:cxn modelId="{3D22FF9B-D449-4169-81FF-2FE89750EBD7}" type="presParOf" srcId="{7ADB12E1-86A7-4706-9F0A-9BF813058DC2}" destId="{61EBF54F-5AF8-42D6-B677-3AEC9857F8F8}" srcOrd="5" destOrd="0" presId="urn:microsoft.com/office/officeart/2005/8/layout/vList2"/>
    <dgm:cxn modelId="{745ED197-A983-4B46-AE7E-E8C3BBC13944}" type="presParOf" srcId="{7ADB12E1-86A7-4706-9F0A-9BF813058DC2}" destId="{BE318E21-437E-47B8-8ECC-78767808E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8807E0-5D2E-4562-82B8-1224FBA6BE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CED172-9625-403D-B7E1-757583B615E1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Vergleich verschiedener KI-TOOLS</a:t>
          </a:r>
          <a:endParaRPr lang="en-US" dirty="0"/>
        </a:p>
      </dgm:t>
    </dgm:pt>
    <dgm:pt modelId="{EE6AB217-E365-4A9C-A958-53F3794300D6}" type="parTrans" cxnId="{AC975E7F-73E2-4E8D-8A5B-DB20786400F9}">
      <dgm:prSet/>
      <dgm:spPr/>
      <dgm:t>
        <a:bodyPr/>
        <a:lstStyle/>
        <a:p>
          <a:endParaRPr lang="en-US"/>
        </a:p>
      </dgm:t>
    </dgm:pt>
    <dgm:pt modelId="{1F938A74-097E-48F6-970F-91D62149AA5B}" type="sibTrans" cxnId="{AC975E7F-73E2-4E8D-8A5B-DB20786400F9}">
      <dgm:prSet/>
      <dgm:spPr/>
      <dgm:t>
        <a:bodyPr/>
        <a:lstStyle/>
        <a:p>
          <a:endParaRPr lang="en-US"/>
        </a:p>
      </dgm:t>
    </dgm:pt>
    <dgm:pt modelId="{F1D9DD0C-6B54-4808-997E-325F8B3BF1D7}">
      <dgm:prSet/>
      <dgm:spPr>
        <a:solidFill>
          <a:schemeClr val="accent2">
            <a:lumMod val="75000"/>
            <a:lumOff val="25000"/>
          </a:schemeClr>
        </a:solidFill>
      </dgm:spPr>
      <dgm:t>
        <a:bodyPr/>
        <a:lstStyle/>
        <a:p>
          <a:r>
            <a:rPr lang="de-DE" dirty="0"/>
            <a:t>Effizienz und Qualitätssteigerung durch KI ?</a:t>
          </a:r>
          <a:endParaRPr lang="en-US" dirty="0"/>
        </a:p>
      </dgm:t>
    </dgm:pt>
    <dgm:pt modelId="{737E3B88-6501-4CF2-B1B1-378A3E1DEA4A}" type="sibTrans" cxnId="{CE274B31-6F19-4344-B862-523E903B0592}">
      <dgm:prSet/>
      <dgm:spPr/>
      <dgm:t>
        <a:bodyPr/>
        <a:lstStyle/>
        <a:p>
          <a:endParaRPr lang="en-US"/>
        </a:p>
      </dgm:t>
    </dgm:pt>
    <dgm:pt modelId="{4D297C36-0176-4EFA-B972-F9B771417C69}" type="parTrans" cxnId="{CE274B31-6F19-4344-B862-523E903B0592}">
      <dgm:prSet/>
      <dgm:spPr/>
      <dgm:t>
        <a:bodyPr/>
        <a:lstStyle/>
        <a:p>
          <a:endParaRPr lang="en-US"/>
        </a:p>
      </dgm:t>
    </dgm:pt>
    <dgm:pt modelId="{5429F6B4-758F-4668-8EF8-447E37090795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Plagiat oder Eigenleistung ?</a:t>
          </a:r>
          <a:endParaRPr lang="en-US" dirty="0"/>
        </a:p>
      </dgm:t>
    </dgm:pt>
    <dgm:pt modelId="{3AEDCA72-7EE4-4CE0-9447-AA82984CCD5C}" type="sibTrans" cxnId="{49E600AC-E8F4-4401-8101-87063A473529}">
      <dgm:prSet/>
      <dgm:spPr/>
      <dgm:t>
        <a:bodyPr/>
        <a:lstStyle/>
        <a:p>
          <a:endParaRPr lang="en-US"/>
        </a:p>
      </dgm:t>
    </dgm:pt>
    <dgm:pt modelId="{08F4AF23-ABEE-4B0B-AC49-296A3E33AC1B}" type="parTrans" cxnId="{49E600AC-E8F4-4401-8101-87063A473529}">
      <dgm:prSet/>
      <dgm:spPr/>
      <dgm:t>
        <a:bodyPr/>
        <a:lstStyle/>
        <a:p>
          <a:endParaRPr lang="en-US"/>
        </a:p>
      </dgm:t>
    </dgm:pt>
    <dgm:pt modelId="{A6063DC7-4D94-40D6-A325-996AD7530527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Persönliche Präferenzen</a:t>
          </a:r>
          <a:endParaRPr lang="en-US" dirty="0"/>
        </a:p>
      </dgm:t>
    </dgm:pt>
    <dgm:pt modelId="{E1D500FE-73C7-4376-B8FB-DB0CAF0BC551}" type="sibTrans" cxnId="{25C5D365-8DB0-415E-A8F0-B4073FEBD17F}">
      <dgm:prSet/>
      <dgm:spPr/>
      <dgm:t>
        <a:bodyPr/>
        <a:lstStyle/>
        <a:p>
          <a:endParaRPr lang="en-US"/>
        </a:p>
      </dgm:t>
    </dgm:pt>
    <dgm:pt modelId="{8A9EE2B9-C7D8-4E15-BE58-8158A86C3BB8}" type="parTrans" cxnId="{25C5D365-8DB0-415E-A8F0-B4073FEBD17F}">
      <dgm:prSet/>
      <dgm:spPr/>
      <dgm:t>
        <a:bodyPr/>
        <a:lstStyle/>
        <a:p>
          <a:endParaRPr lang="en-US"/>
        </a:p>
      </dgm:t>
    </dgm:pt>
    <dgm:pt modelId="{7ADB12E1-86A7-4706-9F0A-9BF813058DC2}" type="pres">
      <dgm:prSet presAssocID="{1F8807E0-5D2E-4562-82B8-1224FBA6BE32}" presName="linear" presStyleCnt="0">
        <dgm:presLayoutVars>
          <dgm:animLvl val="lvl"/>
          <dgm:resizeHandles val="exact"/>
        </dgm:presLayoutVars>
      </dgm:prSet>
      <dgm:spPr/>
    </dgm:pt>
    <dgm:pt modelId="{203F281B-60C9-4D98-BB75-EE81972D4CAC}" type="pres">
      <dgm:prSet presAssocID="{60CED172-9625-403D-B7E1-757583B615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3B4148-4D51-42B7-BFD8-E0216FF3DE36}" type="pres">
      <dgm:prSet presAssocID="{1F938A74-097E-48F6-970F-91D62149AA5B}" presName="spacer" presStyleCnt="0"/>
      <dgm:spPr/>
    </dgm:pt>
    <dgm:pt modelId="{7A79FB20-961C-4627-A100-F5E21F561DA5}" type="pres">
      <dgm:prSet presAssocID="{F1D9DD0C-6B54-4808-997E-325F8B3BF1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B16967-C88D-4D3E-AC74-5196723ADFEB}" type="pres">
      <dgm:prSet presAssocID="{737E3B88-6501-4CF2-B1B1-378A3E1DEA4A}" presName="spacer" presStyleCnt="0"/>
      <dgm:spPr/>
    </dgm:pt>
    <dgm:pt modelId="{17921AE3-05BF-47FE-9D6E-3E1BE11A4AA9}" type="pres">
      <dgm:prSet presAssocID="{5429F6B4-758F-4668-8EF8-447E370907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C2C778-E041-478B-9626-80D5FECCD8BD}" type="pres">
      <dgm:prSet presAssocID="{3AEDCA72-7EE4-4CE0-9447-AA82984CCD5C}" presName="spacer" presStyleCnt="0"/>
      <dgm:spPr/>
    </dgm:pt>
    <dgm:pt modelId="{BE318E21-437E-47B8-8ECC-78767808E697}" type="pres">
      <dgm:prSet presAssocID="{A6063DC7-4D94-40D6-A325-996AD75305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274B31-6F19-4344-B862-523E903B0592}" srcId="{1F8807E0-5D2E-4562-82B8-1224FBA6BE32}" destId="{F1D9DD0C-6B54-4808-997E-325F8B3BF1D7}" srcOrd="1" destOrd="0" parTransId="{4D297C36-0176-4EFA-B972-F9B771417C69}" sibTransId="{737E3B88-6501-4CF2-B1B1-378A3E1DEA4A}"/>
    <dgm:cxn modelId="{25C5D365-8DB0-415E-A8F0-B4073FEBD17F}" srcId="{1F8807E0-5D2E-4562-82B8-1224FBA6BE32}" destId="{A6063DC7-4D94-40D6-A325-996AD7530527}" srcOrd="3" destOrd="0" parTransId="{8A9EE2B9-C7D8-4E15-BE58-8158A86C3BB8}" sibTransId="{E1D500FE-73C7-4376-B8FB-DB0CAF0BC551}"/>
    <dgm:cxn modelId="{25C06C7C-5993-404F-9127-60CE7C4174A2}" type="presOf" srcId="{A6063DC7-4D94-40D6-A325-996AD7530527}" destId="{BE318E21-437E-47B8-8ECC-78767808E697}" srcOrd="0" destOrd="0" presId="urn:microsoft.com/office/officeart/2005/8/layout/vList2"/>
    <dgm:cxn modelId="{AC975E7F-73E2-4E8D-8A5B-DB20786400F9}" srcId="{1F8807E0-5D2E-4562-82B8-1224FBA6BE32}" destId="{60CED172-9625-403D-B7E1-757583B615E1}" srcOrd="0" destOrd="0" parTransId="{EE6AB217-E365-4A9C-A958-53F3794300D6}" sibTransId="{1F938A74-097E-48F6-970F-91D62149AA5B}"/>
    <dgm:cxn modelId="{8A87838D-3C19-4DE3-959B-971B4D217459}" type="presOf" srcId="{5429F6B4-758F-4668-8EF8-447E37090795}" destId="{17921AE3-05BF-47FE-9D6E-3E1BE11A4AA9}" srcOrd="0" destOrd="0" presId="urn:microsoft.com/office/officeart/2005/8/layout/vList2"/>
    <dgm:cxn modelId="{49E600AC-E8F4-4401-8101-87063A473529}" srcId="{1F8807E0-5D2E-4562-82B8-1224FBA6BE32}" destId="{5429F6B4-758F-4668-8EF8-447E37090795}" srcOrd="2" destOrd="0" parTransId="{08F4AF23-ABEE-4B0B-AC49-296A3E33AC1B}" sibTransId="{3AEDCA72-7EE4-4CE0-9447-AA82984CCD5C}"/>
    <dgm:cxn modelId="{399EE9DB-10F0-414B-B352-D4016CFE9EDC}" type="presOf" srcId="{F1D9DD0C-6B54-4808-997E-325F8B3BF1D7}" destId="{7A79FB20-961C-4627-A100-F5E21F561DA5}" srcOrd="0" destOrd="0" presId="urn:microsoft.com/office/officeart/2005/8/layout/vList2"/>
    <dgm:cxn modelId="{3C96CEEC-A77D-4930-95A4-EB10ACB479D9}" type="presOf" srcId="{1F8807E0-5D2E-4562-82B8-1224FBA6BE32}" destId="{7ADB12E1-86A7-4706-9F0A-9BF813058DC2}" srcOrd="0" destOrd="0" presId="urn:microsoft.com/office/officeart/2005/8/layout/vList2"/>
    <dgm:cxn modelId="{BB7EA8F4-026D-4932-97C7-81913B66853C}" type="presOf" srcId="{60CED172-9625-403D-B7E1-757583B615E1}" destId="{203F281B-60C9-4D98-BB75-EE81972D4CAC}" srcOrd="0" destOrd="0" presId="urn:microsoft.com/office/officeart/2005/8/layout/vList2"/>
    <dgm:cxn modelId="{5DC2611E-C7D6-4A68-A686-E8348A2B2089}" type="presParOf" srcId="{7ADB12E1-86A7-4706-9F0A-9BF813058DC2}" destId="{203F281B-60C9-4D98-BB75-EE81972D4CAC}" srcOrd="0" destOrd="0" presId="urn:microsoft.com/office/officeart/2005/8/layout/vList2"/>
    <dgm:cxn modelId="{C150772C-4F0C-4762-AC7C-2CFBC0B07594}" type="presParOf" srcId="{7ADB12E1-86A7-4706-9F0A-9BF813058DC2}" destId="{323B4148-4D51-42B7-BFD8-E0216FF3DE36}" srcOrd="1" destOrd="0" presId="urn:microsoft.com/office/officeart/2005/8/layout/vList2"/>
    <dgm:cxn modelId="{5CE6A8DB-38BD-4C58-A9A7-8A79DCA5A59A}" type="presParOf" srcId="{7ADB12E1-86A7-4706-9F0A-9BF813058DC2}" destId="{7A79FB20-961C-4627-A100-F5E21F561DA5}" srcOrd="2" destOrd="0" presId="urn:microsoft.com/office/officeart/2005/8/layout/vList2"/>
    <dgm:cxn modelId="{6A5BD4BC-62FA-4D04-918B-AAE045E057C6}" type="presParOf" srcId="{7ADB12E1-86A7-4706-9F0A-9BF813058DC2}" destId="{B9B16967-C88D-4D3E-AC74-5196723ADFEB}" srcOrd="3" destOrd="0" presId="urn:microsoft.com/office/officeart/2005/8/layout/vList2"/>
    <dgm:cxn modelId="{2E70478A-82AD-4E87-A51E-B7026ADFB67B}" type="presParOf" srcId="{7ADB12E1-86A7-4706-9F0A-9BF813058DC2}" destId="{17921AE3-05BF-47FE-9D6E-3E1BE11A4AA9}" srcOrd="4" destOrd="0" presId="urn:microsoft.com/office/officeart/2005/8/layout/vList2"/>
    <dgm:cxn modelId="{55EE2E32-FF4D-4861-B918-C3857C919BE0}" type="presParOf" srcId="{7ADB12E1-86A7-4706-9F0A-9BF813058DC2}" destId="{4AC2C778-E041-478B-9626-80D5FECCD8BD}" srcOrd="5" destOrd="0" presId="urn:microsoft.com/office/officeart/2005/8/layout/vList2"/>
    <dgm:cxn modelId="{745ED197-A983-4B46-AE7E-E8C3BBC13944}" type="presParOf" srcId="{7ADB12E1-86A7-4706-9F0A-9BF813058DC2}" destId="{BE318E21-437E-47B8-8ECC-78767808E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8807E0-5D2E-4562-82B8-1224FBA6BE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CED172-9625-403D-B7E1-757583B615E1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Vergleich verschiedener KI-TOOLS</a:t>
          </a:r>
          <a:endParaRPr lang="en-US" dirty="0"/>
        </a:p>
      </dgm:t>
    </dgm:pt>
    <dgm:pt modelId="{EE6AB217-E365-4A9C-A958-53F3794300D6}" type="parTrans" cxnId="{AC975E7F-73E2-4E8D-8A5B-DB20786400F9}">
      <dgm:prSet/>
      <dgm:spPr/>
      <dgm:t>
        <a:bodyPr/>
        <a:lstStyle/>
        <a:p>
          <a:endParaRPr lang="en-US"/>
        </a:p>
      </dgm:t>
    </dgm:pt>
    <dgm:pt modelId="{1F938A74-097E-48F6-970F-91D62149AA5B}" type="sibTrans" cxnId="{AC975E7F-73E2-4E8D-8A5B-DB20786400F9}">
      <dgm:prSet/>
      <dgm:spPr/>
      <dgm:t>
        <a:bodyPr/>
        <a:lstStyle/>
        <a:p>
          <a:endParaRPr lang="en-US"/>
        </a:p>
      </dgm:t>
    </dgm:pt>
    <dgm:pt modelId="{F1D9DD0C-6B54-4808-997E-325F8B3BF1D7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de-DE" dirty="0"/>
            <a:t>Effizienz und Qualitätssteigerung durch KI</a:t>
          </a:r>
          <a:endParaRPr lang="en-US" dirty="0"/>
        </a:p>
      </dgm:t>
    </dgm:pt>
    <dgm:pt modelId="{737E3B88-6501-4CF2-B1B1-378A3E1DEA4A}" type="sibTrans" cxnId="{CE274B31-6F19-4344-B862-523E903B0592}">
      <dgm:prSet/>
      <dgm:spPr/>
      <dgm:t>
        <a:bodyPr/>
        <a:lstStyle/>
        <a:p>
          <a:endParaRPr lang="en-US"/>
        </a:p>
      </dgm:t>
    </dgm:pt>
    <dgm:pt modelId="{4D297C36-0176-4EFA-B972-F9B771417C69}" type="parTrans" cxnId="{CE274B31-6F19-4344-B862-523E903B0592}">
      <dgm:prSet/>
      <dgm:spPr/>
      <dgm:t>
        <a:bodyPr/>
        <a:lstStyle/>
        <a:p>
          <a:endParaRPr lang="en-US"/>
        </a:p>
      </dgm:t>
    </dgm:pt>
    <dgm:pt modelId="{5429F6B4-758F-4668-8EF8-447E37090795}">
      <dgm:prSet/>
      <dgm:spPr>
        <a:solidFill>
          <a:schemeClr val="accent2">
            <a:lumMod val="75000"/>
            <a:lumOff val="25000"/>
          </a:schemeClr>
        </a:solidFill>
      </dgm:spPr>
      <dgm:t>
        <a:bodyPr/>
        <a:lstStyle/>
        <a:p>
          <a:r>
            <a:rPr lang="de-DE" dirty="0"/>
            <a:t>Plagiat oder Eigenleistung</a:t>
          </a:r>
          <a:endParaRPr lang="en-US" dirty="0"/>
        </a:p>
      </dgm:t>
    </dgm:pt>
    <dgm:pt modelId="{3AEDCA72-7EE4-4CE0-9447-AA82984CCD5C}" type="sibTrans" cxnId="{49E600AC-E8F4-4401-8101-87063A473529}">
      <dgm:prSet/>
      <dgm:spPr/>
      <dgm:t>
        <a:bodyPr/>
        <a:lstStyle/>
        <a:p>
          <a:endParaRPr lang="en-US"/>
        </a:p>
      </dgm:t>
    </dgm:pt>
    <dgm:pt modelId="{08F4AF23-ABEE-4B0B-AC49-296A3E33AC1B}" type="parTrans" cxnId="{49E600AC-E8F4-4401-8101-87063A473529}">
      <dgm:prSet/>
      <dgm:spPr/>
      <dgm:t>
        <a:bodyPr/>
        <a:lstStyle/>
        <a:p>
          <a:endParaRPr lang="en-US"/>
        </a:p>
      </dgm:t>
    </dgm:pt>
    <dgm:pt modelId="{A6063DC7-4D94-40D6-A325-996AD7530527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Persönliche Präferenzen</a:t>
          </a:r>
          <a:endParaRPr lang="en-US" dirty="0"/>
        </a:p>
      </dgm:t>
    </dgm:pt>
    <dgm:pt modelId="{E1D500FE-73C7-4376-B8FB-DB0CAF0BC551}" type="sibTrans" cxnId="{25C5D365-8DB0-415E-A8F0-B4073FEBD17F}">
      <dgm:prSet/>
      <dgm:spPr/>
      <dgm:t>
        <a:bodyPr/>
        <a:lstStyle/>
        <a:p>
          <a:endParaRPr lang="en-US"/>
        </a:p>
      </dgm:t>
    </dgm:pt>
    <dgm:pt modelId="{8A9EE2B9-C7D8-4E15-BE58-8158A86C3BB8}" type="parTrans" cxnId="{25C5D365-8DB0-415E-A8F0-B4073FEBD17F}">
      <dgm:prSet/>
      <dgm:spPr/>
      <dgm:t>
        <a:bodyPr/>
        <a:lstStyle/>
        <a:p>
          <a:endParaRPr lang="en-US"/>
        </a:p>
      </dgm:t>
    </dgm:pt>
    <dgm:pt modelId="{7ADB12E1-86A7-4706-9F0A-9BF813058DC2}" type="pres">
      <dgm:prSet presAssocID="{1F8807E0-5D2E-4562-82B8-1224FBA6BE32}" presName="linear" presStyleCnt="0">
        <dgm:presLayoutVars>
          <dgm:animLvl val="lvl"/>
          <dgm:resizeHandles val="exact"/>
        </dgm:presLayoutVars>
      </dgm:prSet>
      <dgm:spPr/>
    </dgm:pt>
    <dgm:pt modelId="{203F281B-60C9-4D98-BB75-EE81972D4CAC}" type="pres">
      <dgm:prSet presAssocID="{60CED172-9625-403D-B7E1-757583B615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3B4148-4D51-42B7-BFD8-E0216FF3DE36}" type="pres">
      <dgm:prSet presAssocID="{1F938A74-097E-48F6-970F-91D62149AA5B}" presName="spacer" presStyleCnt="0"/>
      <dgm:spPr/>
    </dgm:pt>
    <dgm:pt modelId="{7A79FB20-961C-4627-A100-F5E21F561DA5}" type="pres">
      <dgm:prSet presAssocID="{F1D9DD0C-6B54-4808-997E-325F8B3BF1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B16967-C88D-4D3E-AC74-5196723ADFEB}" type="pres">
      <dgm:prSet presAssocID="{737E3B88-6501-4CF2-B1B1-378A3E1DEA4A}" presName="spacer" presStyleCnt="0"/>
      <dgm:spPr/>
    </dgm:pt>
    <dgm:pt modelId="{17921AE3-05BF-47FE-9D6E-3E1BE11A4AA9}" type="pres">
      <dgm:prSet presAssocID="{5429F6B4-758F-4668-8EF8-447E370907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C2C778-E041-478B-9626-80D5FECCD8BD}" type="pres">
      <dgm:prSet presAssocID="{3AEDCA72-7EE4-4CE0-9447-AA82984CCD5C}" presName="spacer" presStyleCnt="0"/>
      <dgm:spPr/>
    </dgm:pt>
    <dgm:pt modelId="{BE318E21-437E-47B8-8ECC-78767808E697}" type="pres">
      <dgm:prSet presAssocID="{A6063DC7-4D94-40D6-A325-996AD75305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274B31-6F19-4344-B862-523E903B0592}" srcId="{1F8807E0-5D2E-4562-82B8-1224FBA6BE32}" destId="{F1D9DD0C-6B54-4808-997E-325F8B3BF1D7}" srcOrd="1" destOrd="0" parTransId="{4D297C36-0176-4EFA-B972-F9B771417C69}" sibTransId="{737E3B88-6501-4CF2-B1B1-378A3E1DEA4A}"/>
    <dgm:cxn modelId="{25C5D365-8DB0-415E-A8F0-B4073FEBD17F}" srcId="{1F8807E0-5D2E-4562-82B8-1224FBA6BE32}" destId="{A6063DC7-4D94-40D6-A325-996AD7530527}" srcOrd="3" destOrd="0" parTransId="{8A9EE2B9-C7D8-4E15-BE58-8158A86C3BB8}" sibTransId="{E1D500FE-73C7-4376-B8FB-DB0CAF0BC551}"/>
    <dgm:cxn modelId="{25C06C7C-5993-404F-9127-60CE7C4174A2}" type="presOf" srcId="{A6063DC7-4D94-40D6-A325-996AD7530527}" destId="{BE318E21-437E-47B8-8ECC-78767808E697}" srcOrd="0" destOrd="0" presId="urn:microsoft.com/office/officeart/2005/8/layout/vList2"/>
    <dgm:cxn modelId="{AC975E7F-73E2-4E8D-8A5B-DB20786400F9}" srcId="{1F8807E0-5D2E-4562-82B8-1224FBA6BE32}" destId="{60CED172-9625-403D-B7E1-757583B615E1}" srcOrd="0" destOrd="0" parTransId="{EE6AB217-E365-4A9C-A958-53F3794300D6}" sibTransId="{1F938A74-097E-48F6-970F-91D62149AA5B}"/>
    <dgm:cxn modelId="{8A87838D-3C19-4DE3-959B-971B4D217459}" type="presOf" srcId="{5429F6B4-758F-4668-8EF8-447E37090795}" destId="{17921AE3-05BF-47FE-9D6E-3E1BE11A4AA9}" srcOrd="0" destOrd="0" presId="urn:microsoft.com/office/officeart/2005/8/layout/vList2"/>
    <dgm:cxn modelId="{49E600AC-E8F4-4401-8101-87063A473529}" srcId="{1F8807E0-5D2E-4562-82B8-1224FBA6BE32}" destId="{5429F6B4-758F-4668-8EF8-447E37090795}" srcOrd="2" destOrd="0" parTransId="{08F4AF23-ABEE-4B0B-AC49-296A3E33AC1B}" sibTransId="{3AEDCA72-7EE4-4CE0-9447-AA82984CCD5C}"/>
    <dgm:cxn modelId="{399EE9DB-10F0-414B-B352-D4016CFE9EDC}" type="presOf" srcId="{F1D9DD0C-6B54-4808-997E-325F8B3BF1D7}" destId="{7A79FB20-961C-4627-A100-F5E21F561DA5}" srcOrd="0" destOrd="0" presId="urn:microsoft.com/office/officeart/2005/8/layout/vList2"/>
    <dgm:cxn modelId="{3C96CEEC-A77D-4930-95A4-EB10ACB479D9}" type="presOf" srcId="{1F8807E0-5D2E-4562-82B8-1224FBA6BE32}" destId="{7ADB12E1-86A7-4706-9F0A-9BF813058DC2}" srcOrd="0" destOrd="0" presId="urn:microsoft.com/office/officeart/2005/8/layout/vList2"/>
    <dgm:cxn modelId="{BB7EA8F4-026D-4932-97C7-81913B66853C}" type="presOf" srcId="{60CED172-9625-403D-B7E1-757583B615E1}" destId="{203F281B-60C9-4D98-BB75-EE81972D4CAC}" srcOrd="0" destOrd="0" presId="urn:microsoft.com/office/officeart/2005/8/layout/vList2"/>
    <dgm:cxn modelId="{5DC2611E-C7D6-4A68-A686-E8348A2B2089}" type="presParOf" srcId="{7ADB12E1-86A7-4706-9F0A-9BF813058DC2}" destId="{203F281B-60C9-4D98-BB75-EE81972D4CAC}" srcOrd="0" destOrd="0" presId="urn:microsoft.com/office/officeart/2005/8/layout/vList2"/>
    <dgm:cxn modelId="{C150772C-4F0C-4762-AC7C-2CFBC0B07594}" type="presParOf" srcId="{7ADB12E1-86A7-4706-9F0A-9BF813058DC2}" destId="{323B4148-4D51-42B7-BFD8-E0216FF3DE36}" srcOrd="1" destOrd="0" presId="urn:microsoft.com/office/officeart/2005/8/layout/vList2"/>
    <dgm:cxn modelId="{5CE6A8DB-38BD-4C58-A9A7-8A79DCA5A59A}" type="presParOf" srcId="{7ADB12E1-86A7-4706-9F0A-9BF813058DC2}" destId="{7A79FB20-961C-4627-A100-F5E21F561DA5}" srcOrd="2" destOrd="0" presId="urn:microsoft.com/office/officeart/2005/8/layout/vList2"/>
    <dgm:cxn modelId="{6A5BD4BC-62FA-4D04-918B-AAE045E057C6}" type="presParOf" srcId="{7ADB12E1-86A7-4706-9F0A-9BF813058DC2}" destId="{B9B16967-C88D-4D3E-AC74-5196723ADFEB}" srcOrd="3" destOrd="0" presId="urn:microsoft.com/office/officeart/2005/8/layout/vList2"/>
    <dgm:cxn modelId="{2E70478A-82AD-4E87-A51E-B7026ADFB67B}" type="presParOf" srcId="{7ADB12E1-86A7-4706-9F0A-9BF813058DC2}" destId="{17921AE3-05BF-47FE-9D6E-3E1BE11A4AA9}" srcOrd="4" destOrd="0" presId="urn:microsoft.com/office/officeart/2005/8/layout/vList2"/>
    <dgm:cxn modelId="{55EE2E32-FF4D-4861-B918-C3857C919BE0}" type="presParOf" srcId="{7ADB12E1-86A7-4706-9F0A-9BF813058DC2}" destId="{4AC2C778-E041-478B-9626-80D5FECCD8BD}" srcOrd="5" destOrd="0" presId="urn:microsoft.com/office/officeart/2005/8/layout/vList2"/>
    <dgm:cxn modelId="{745ED197-A983-4B46-AE7E-E8C3BBC13944}" type="presParOf" srcId="{7ADB12E1-86A7-4706-9F0A-9BF813058DC2}" destId="{BE318E21-437E-47B8-8ECC-78767808E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8807E0-5D2E-4562-82B8-1224FBA6BE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CED172-9625-403D-B7E1-757583B615E1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Vergleich verschiedener KI-TOOLS</a:t>
          </a:r>
          <a:endParaRPr lang="en-US" dirty="0"/>
        </a:p>
      </dgm:t>
    </dgm:pt>
    <dgm:pt modelId="{EE6AB217-E365-4A9C-A958-53F3794300D6}" type="parTrans" cxnId="{AC975E7F-73E2-4E8D-8A5B-DB20786400F9}">
      <dgm:prSet/>
      <dgm:spPr/>
      <dgm:t>
        <a:bodyPr/>
        <a:lstStyle/>
        <a:p>
          <a:endParaRPr lang="en-US"/>
        </a:p>
      </dgm:t>
    </dgm:pt>
    <dgm:pt modelId="{1F938A74-097E-48F6-970F-91D62149AA5B}" type="sibTrans" cxnId="{AC975E7F-73E2-4E8D-8A5B-DB20786400F9}">
      <dgm:prSet/>
      <dgm:spPr/>
      <dgm:t>
        <a:bodyPr/>
        <a:lstStyle/>
        <a:p>
          <a:endParaRPr lang="en-US"/>
        </a:p>
      </dgm:t>
    </dgm:pt>
    <dgm:pt modelId="{5429F6B4-758F-4668-8EF8-447E37090795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Plagiat oder Eigenleistung ?</a:t>
          </a:r>
          <a:endParaRPr lang="en-US" dirty="0"/>
        </a:p>
      </dgm:t>
    </dgm:pt>
    <dgm:pt modelId="{3AEDCA72-7EE4-4CE0-9447-AA82984CCD5C}" type="sibTrans" cxnId="{49E600AC-E8F4-4401-8101-87063A473529}">
      <dgm:prSet/>
      <dgm:spPr/>
      <dgm:t>
        <a:bodyPr/>
        <a:lstStyle/>
        <a:p>
          <a:endParaRPr lang="en-US"/>
        </a:p>
      </dgm:t>
    </dgm:pt>
    <dgm:pt modelId="{08F4AF23-ABEE-4B0B-AC49-296A3E33AC1B}" type="parTrans" cxnId="{49E600AC-E8F4-4401-8101-87063A473529}">
      <dgm:prSet/>
      <dgm:spPr/>
      <dgm:t>
        <a:bodyPr/>
        <a:lstStyle/>
        <a:p>
          <a:endParaRPr lang="en-US"/>
        </a:p>
      </dgm:t>
    </dgm:pt>
    <dgm:pt modelId="{A6063DC7-4D94-40D6-A325-996AD7530527}">
      <dgm:prSet/>
      <dgm:spPr>
        <a:solidFill>
          <a:schemeClr val="accent2">
            <a:lumMod val="75000"/>
            <a:lumOff val="25000"/>
          </a:schemeClr>
        </a:solidFill>
        <a:ln>
          <a:solidFill>
            <a:schemeClr val="accent2">
              <a:lumMod val="75000"/>
              <a:lumOff val="25000"/>
            </a:schemeClr>
          </a:solidFill>
        </a:ln>
      </dgm:spPr>
      <dgm:t>
        <a:bodyPr/>
        <a:lstStyle/>
        <a:p>
          <a:r>
            <a:rPr lang="de-DE" dirty="0"/>
            <a:t>Persönliche Präferenzen</a:t>
          </a:r>
          <a:endParaRPr lang="en-US" dirty="0"/>
        </a:p>
      </dgm:t>
    </dgm:pt>
    <dgm:pt modelId="{E1D500FE-73C7-4376-B8FB-DB0CAF0BC551}" type="sibTrans" cxnId="{25C5D365-8DB0-415E-A8F0-B4073FEBD17F}">
      <dgm:prSet/>
      <dgm:spPr/>
      <dgm:t>
        <a:bodyPr/>
        <a:lstStyle/>
        <a:p>
          <a:endParaRPr lang="en-US"/>
        </a:p>
      </dgm:t>
    </dgm:pt>
    <dgm:pt modelId="{8A9EE2B9-C7D8-4E15-BE58-8158A86C3BB8}" type="parTrans" cxnId="{25C5D365-8DB0-415E-A8F0-B4073FEBD17F}">
      <dgm:prSet/>
      <dgm:spPr/>
      <dgm:t>
        <a:bodyPr/>
        <a:lstStyle/>
        <a:p>
          <a:endParaRPr lang="en-US"/>
        </a:p>
      </dgm:t>
    </dgm:pt>
    <dgm:pt modelId="{F1D9DD0C-6B54-4808-997E-325F8B3BF1D7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de-DE" dirty="0"/>
            <a:t>Effizienz und Qualitätssteigerung durch KI ?</a:t>
          </a:r>
          <a:endParaRPr lang="en-US" dirty="0"/>
        </a:p>
      </dgm:t>
    </dgm:pt>
    <dgm:pt modelId="{737E3B88-6501-4CF2-B1B1-378A3E1DEA4A}" type="sibTrans" cxnId="{CE274B31-6F19-4344-B862-523E903B0592}">
      <dgm:prSet/>
      <dgm:spPr/>
      <dgm:t>
        <a:bodyPr/>
        <a:lstStyle/>
        <a:p>
          <a:endParaRPr lang="en-US"/>
        </a:p>
      </dgm:t>
    </dgm:pt>
    <dgm:pt modelId="{4D297C36-0176-4EFA-B972-F9B771417C69}" type="parTrans" cxnId="{CE274B31-6F19-4344-B862-523E903B0592}">
      <dgm:prSet/>
      <dgm:spPr/>
      <dgm:t>
        <a:bodyPr/>
        <a:lstStyle/>
        <a:p>
          <a:endParaRPr lang="en-US"/>
        </a:p>
      </dgm:t>
    </dgm:pt>
    <dgm:pt modelId="{7ADB12E1-86A7-4706-9F0A-9BF813058DC2}" type="pres">
      <dgm:prSet presAssocID="{1F8807E0-5D2E-4562-82B8-1224FBA6BE32}" presName="linear" presStyleCnt="0">
        <dgm:presLayoutVars>
          <dgm:animLvl val="lvl"/>
          <dgm:resizeHandles val="exact"/>
        </dgm:presLayoutVars>
      </dgm:prSet>
      <dgm:spPr/>
    </dgm:pt>
    <dgm:pt modelId="{203F281B-60C9-4D98-BB75-EE81972D4CAC}" type="pres">
      <dgm:prSet presAssocID="{60CED172-9625-403D-B7E1-757583B615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3B4148-4D51-42B7-BFD8-E0216FF3DE36}" type="pres">
      <dgm:prSet presAssocID="{1F938A74-097E-48F6-970F-91D62149AA5B}" presName="spacer" presStyleCnt="0"/>
      <dgm:spPr/>
    </dgm:pt>
    <dgm:pt modelId="{7A79FB20-961C-4627-A100-F5E21F561DA5}" type="pres">
      <dgm:prSet presAssocID="{F1D9DD0C-6B54-4808-997E-325F8B3BF1D7}" presName="parentText" presStyleLbl="node1" presStyleIdx="1" presStyleCnt="4" custLinFactNeighborX="-280" custLinFactNeighborY="38344">
        <dgm:presLayoutVars>
          <dgm:chMax val="0"/>
          <dgm:bulletEnabled val="1"/>
        </dgm:presLayoutVars>
      </dgm:prSet>
      <dgm:spPr/>
    </dgm:pt>
    <dgm:pt modelId="{B9B16967-C88D-4D3E-AC74-5196723ADFEB}" type="pres">
      <dgm:prSet presAssocID="{737E3B88-6501-4CF2-B1B1-378A3E1DEA4A}" presName="spacer" presStyleCnt="0"/>
      <dgm:spPr/>
    </dgm:pt>
    <dgm:pt modelId="{17921AE3-05BF-47FE-9D6E-3E1BE11A4AA9}" type="pres">
      <dgm:prSet presAssocID="{5429F6B4-758F-4668-8EF8-447E370907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C2C778-E041-478B-9626-80D5FECCD8BD}" type="pres">
      <dgm:prSet presAssocID="{3AEDCA72-7EE4-4CE0-9447-AA82984CCD5C}" presName="spacer" presStyleCnt="0"/>
      <dgm:spPr/>
    </dgm:pt>
    <dgm:pt modelId="{BE318E21-437E-47B8-8ECC-78767808E697}" type="pres">
      <dgm:prSet presAssocID="{A6063DC7-4D94-40D6-A325-996AD75305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274B31-6F19-4344-B862-523E903B0592}" srcId="{1F8807E0-5D2E-4562-82B8-1224FBA6BE32}" destId="{F1D9DD0C-6B54-4808-997E-325F8B3BF1D7}" srcOrd="1" destOrd="0" parTransId="{4D297C36-0176-4EFA-B972-F9B771417C69}" sibTransId="{737E3B88-6501-4CF2-B1B1-378A3E1DEA4A}"/>
    <dgm:cxn modelId="{25C5D365-8DB0-415E-A8F0-B4073FEBD17F}" srcId="{1F8807E0-5D2E-4562-82B8-1224FBA6BE32}" destId="{A6063DC7-4D94-40D6-A325-996AD7530527}" srcOrd="3" destOrd="0" parTransId="{8A9EE2B9-C7D8-4E15-BE58-8158A86C3BB8}" sibTransId="{E1D500FE-73C7-4376-B8FB-DB0CAF0BC551}"/>
    <dgm:cxn modelId="{25C06C7C-5993-404F-9127-60CE7C4174A2}" type="presOf" srcId="{A6063DC7-4D94-40D6-A325-996AD7530527}" destId="{BE318E21-437E-47B8-8ECC-78767808E697}" srcOrd="0" destOrd="0" presId="urn:microsoft.com/office/officeart/2005/8/layout/vList2"/>
    <dgm:cxn modelId="{AC975E7F-73E2-4E8D-8A5B-DB20786400F9}" srcId="{1F8807E0-5D2E-4562-82B8-1224FBA6BE32}" destId="{60CED172-9625-403D-B7E1-757583B615E1}" srcOrd="0" destOrd="0" parTransId="{EE6AB217-E365-4A9C-A958-53F3794300D6}" sibTransId="{1F938A74-097E-48F6-970F-91D62149AA5B}"/>
    <dgm:cxn modelId="{8A87838D-3C19-4DE3-959B-971B4D217459}" type="presOf" srcId="{5429F6B4-758F-4668-8EF8-447E37090795}" destId="{17921AE3-05BF-47FE-9D6E-3E1BE11A4AA9}" srcOrd="0" destOrd="0" presId="urn:microsoft.com/office/officeart/2005/8/layout/vList2"/>
    <dgm:cxn modelId="{49E600AC-E8F4-4401-8101-87063A473529}" srcId="{1F8807E0-5D2E-4562-82B8-1224FBA6BE32}" destId="{5429F6B4-758F-4668-8EF8-447E37090795}" srcOrd="2" destOrd="0" parTransId="{08F4AF23-ABEE-4B0B-AC49-296A3E33AC1B}" sibTransId="{3AEDCA72-7EE4-4CE0-9447-AA82984CCD5C}"/>
    <dgm:cxn modelId="{399EE9DB-10F0-414B-B352-D4016CFE9EDC}" type="presOf" srcId="{F1D9DD0C-6B54-4808-997E-325F8B3BF1D7}" destId="{7A79FB20-961C-4627-A100-F5E21F561DA5}" srcOrd="0" destOrd="0" presId="urn:microsoft.com/office/officeart/2005/8/layout/vList2"/>
    <dgm:cxn modelId="{3C96CEEC-A77D-4930-95A4-EB10ACB479D9}" type="presOf" srcId="{1F8807E0-5D2E-4562-82B8-1224FBA6BE32}" destId="{7ADB12E1-86A7-4706-9F0A-9BF813058DC2}" srcOrd="0" destOrd="0" presId="urn:microsoft.com/office/officeart/2005/8/layout/vList2"/>
    <dgm:cxn modelId="{BB7EA8F4-026D-4932-97C7-81913B66853C}" type="presOf" srcId="{60CED172-9625-403D-B7E1-757583B615E1}" destId="{203F281B-60C9-4D98-BB75-EE81972D4CAC}" srcOrd="0" destOrd="0" presId="urn:microsoft.com/office/officeart/2005/8/layout/vList2"/>
    <dgm:cxn modelId="{5DC2611E-C7D6-4A68-A686-E8348A2B2089}" type="presParOf" srcId="{7ADB12E1-86A7-4706-9F0A-9BF813058DC2}" destId="{203F281B-60C9-4D98-BB75-EE81972D4CAC}" srcOrd="0" destOrd="0" presId="urn:microsoft.com/office/officeart/2005/8/layout/vList2"/>
    <dgm:cxn modelId="{C150772C-4F0C-4762-AC7C-2CFBC0B07594}" type="presParOf" srcId="{7ADB12E1-86A7-4706-9F0A-9BF813058DC2}" destId="{323B4148-4D51-42B7-BFD8-E0216FF3DE36}" srcOrd="1" destOrd="0" presId="urn:microsoft.com/office/officeart/2005/8/layout/vList2"/>
    <dgm:cxn modelId="{5CE6A8DB-38BD-4C58-A9A7-8A79DCA5A59A}" type="presParOf" srcId="{7ADB12E1-86A7-4706-9F0A-9BF813058DC2}" destId="{7A79FB20-961C-4627-A100-F5E21F561DA5}" srcOrd="2" destOrd="0" presId="urn:microsoft.com/office/officeart/2005/8/layout/vList2"/>
    <dgm:cxn modelId="{6A5BD4BC-62FA-4D04-918B-AAE045E057C6}" type="presParOf" srcId="{7ADB12E1-86A7-4706-9F0A-9BF813058DC2}" destId="{B9B16967-C88D-4D3E-AC74-5196723ADFEB}" srcOrd="3" destOrd="0" presId="urn:microsoft.com/office/officeart/2005/8/layout/vList2"/>
    <dgm:cxn modelId="{2E70478A-82AD-4E87-A51E-B7026ADFB67B}" type="presParOf" srcId="{7ADB12E1-86A7-4706-9F0A-9BF813058DC2}" destId="{17921AE3-05BF-47FE-9D6E-3E1BE11A4AA9}" srcOrd="4" destOrd="0" presId="urn:microsoft.com/office/officeart/2005/8/layout/vList2"/>
    <dgm:cxn modelId="{55EE2E32-FF4D-4861-B918-C3857C919BE0}" type="presParOf" srcId="{7ADB12E1-86A7-4706-9F0A-9BF813058DC2}" destId="{4AC2C778-E041-478B-9626-80D5FECCD8BD}" srcOrd="5" destOrd="0" presId="urn:microsoft.com/office/officeart/2005/8/layout/vList2"/>
    <dgm:cxn modelId="{745ED197-A983-4B46-AE7E-E8C3BBC13944}" type="presParOf" srcId="{7ADB12E1-86A7-4706-9F0A-9BF813058DC2}" destId="{BE318E21-437E-47B8-8ECC-78767808E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F281B-60C9-4D98-BB75-EE81972D4CAC}">
      <dsp:nvSpPr>
        <dsp:cNvPr id="0" name=""/>
        <dsp:cNvSpPr/>
      </dsp:nvSpPr>
      <dsp:spPr>
        <a:xfrm>
          <a:off x="0" y="145970"/>
          <a:ext cx="7932737" cy="655200"/>
        </a:xfrm>
        <a:prstGeom prst="roundRect">
          <a:avLst/>
        </a:prstGeom>
        <a:solidFill>
          <a:schemeClr val="accent2">
            <a:lumMod val="90000"/>
            <a:lumOff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Vergleich verschiedener KI-TOOLS</a:t>
          </a:r>
          <a:endParaRPr lang="en-US" sz="2800" kern="1200" dirty="0"/>
        </a:p>
      </dsp:txBody>
      <dsp:txXfrm>
        <a:off x="31984" y="177954"/>
        <a:ext cx="7868769" cy="591232"/>
      </dsp:txXfrm>
    </dsp:sp>
    <dsp:sp modelId="{DB5039E4-6599-487D-9D99-715890630A19}">
      <dsp:nvSpPr>
        <dsp:cNvPr id="0" name=""/>
        <dsp:cNvSpPr/>
      </dsp:nvSpPr>
      <dsp:spPr>
        <a:xfrm>
          <a:off x="0" y="881810"/>
          <a:ext cx="7932737" cy="655200"/>
        </a:xfrm>
        <a:prstGeom prst="roundRect">
          <a:avLst/>
        </a:prstGeom>
        <a:solidFill>
          <a:schemeClr val="accent2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de-DE" sz="2800" kern="1200" dirty="0"/>
            <a:t>Effizienz und Qualitätssteigerung durch KI ?</a:t>
          </a:r>
          <a:endParaRPr lang="en-US" sz="2800" kern="1200" dirty="0"/>
        </a:p>
      </dsp:txBody>
      <dsp:txXfrm>
        <a:off x="31984" y="913794"/>
        <a:ext cx="7868769" cy="591232"/>
      </dsp:txXfrm>
    </dsp:sp>
    <dsp:sp modelId="{CA4CAA26-B7EA-4893-81C7-F63067BF32C2}">
      <dsp:nvSpPr>
        <dsp:cNvPr id="0" name=""/>
        <dsp:cNvSpPr/>
      </dsp:nvSpPr>
      <dsp:spPr>
        <a:xfrm>
          <a:off x="0" y="1617650"/>
          <a:ext cx="7932737" cy="655200"/>
        </a:xfrm>
        <a:prstGeom prst="roundRect">
          <a:avLst/>
        </a:prstGeom>
        <a:solidFill>
          <a:schemeClr val="accent2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de-DE" sz="2800" kern="1200"/>
            <a:t>Plagiat oder Eigenleistung ?</a:t>
          </a:r>
          <a:endParaRPr lang="en-US" sz="2800" kern="1200"/>
        </a:p>
      </dsp:txBody>
      <dsp:txXfrm>
        <a:off x="31984" y="1649634"/>
        <a:ext cx="7868769" cy="591232"/>
      </dsp:txXfrm>
    </dsp:sp>
    <dsp:sp modelId="{BE318E21-437E-47B8-8ECC-78767808E697}">
      <dsp:nvSpPr>
        <dsp:cNvPr id="0" name=""/>
        <dsp:cNvSpPr/>
      </dsp:nvSpPr>
      <dsp:spPr>
        <a:xfrm>
          <a:off x="0" y="2353490"/>
          <a:ext cx="7932737" cy="655200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Persönliche Präferenzen</a:t>
          </a:r>
          <a:endParaRPr lang="en-US" sz="2800" kern="1200" dirty="0"/>
        </a:p>
      </dsp:txBody>
      <dsp:txXfrm>
        <a:off x="31984" y="2385474"/>
        <a:ext cx="7868769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F281B-60C9-4D98-BB75-EE81972D4CAC}">
      <dsp:nvSpPr>
        <dsp:cNvPr id="0" name=""/>
        <dsp:cNvSpPr/>
      </dsp:nvSpPr>
      <dsp:spPr>
        <a:xfrm>
          <a:off x="0" y="14597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Vergleich verschiedener KI-TOOLS</a:t>
          </a:r>
          <a:endParaRPr lang="en-US" sz="2800" kern="1200" dirty="0"/>
        </a:p>
      </dsp:txBody>
      <dsp:txXfrm>
        <a:off x="31984" y="177954"/>
        <a:ext cx="7868769" cy="591232"/>
      </dsp:txXfrm>
    </dsp:sp>
    <dsp:sp modelId="{7A79FB20-961C-4627-A100-F5E21F561DA5}">
      <dsp:nvSpPr>
        <dsp:cNvPr id="0" name=""/>
        <dsp:cNvSpPr/>
      </dsp:nvSpPr>
      <dsp:spPr>
        <a:xfrm>
          <a:off x="0" y="881810"/>
          <a:ext cx="7932737" cy="655200"/>
        </a:xfrm>
        <a:prstGeom prst="roundRect">
          <a:avLst/>
        </a:prstGeom>
        <a:solidFill>
          <a:schemeClr val="accent2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Effizienz und Qualitätssteigerung durch KI ?</a:t>
          </a:r>
          <a:endParaRPr lang="en-US" sz="2800" kern="1200" dirty="0"/>
        </a:p>
      </dsp:txBody>
      <dsp:txXfrm>
        <a:off x="31984" y="913794"/>
        <a:ext cx="7868769" cy="591232"/>
      </dsp:txXfrm>
    </dsp:sp>
    <dsp:sp modelId="{17921AE3-05BF-47FE-9D6E-3E1BE11A4AA9}">
      <dsp:nvSpPr>
        <dsp:cNvPr id="0" name=""/>
        <dsp:cNvSpPr/>
      </dsp:nvSpPr>
      <dsp:spPr>
        <a:xfrm>
          <a:off x="0" y="161765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Plagiat oder Eigenleistung ?</a:t>
          </a:r>
          <a:endParaRPr lang="en-US" sz="2800" kern="1200" dirty="0"/>
        </a:p>
      </dsp:txBody>
      <dsp:txXfrm>
        <a:off x="31984" y="1649634"/>
        <a:ext cx="7868769" cy="591232"/>
      </dsp:txXfrm>
    </dsp:sp>
    <dsp:sp modelId="{BE318E21-437E-47B8-8ECC-78767808E697}">
      <dsp:nvSpPr>
        <dsp:cNvPr id="0" name=""/>
        <dsp:cNvSpPr/>
      </dsp:nvSpPr>
      <dsp:spPr>
        <a:xfrm>
          <a:off x="0" y="235349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Persönliche Präferenzen</a:t>
          </a:r>
          <a:endParaRPr lang="en-US" sz="2800" kern="1200" dirty="0"/>
        </a:p>
      </dsp:txBody>
      <dsp:txXfrm>
        <a:off x="31984" y="2385474"/>
        <a:ext cx="7868769" cy="591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F281B-60C9-4D98-BB75-EE81972D4CAC}">
      <dsp:nvSpPr>
        <dsp:cNvPr id="0" name=""/>
        <dsp:cNvSpPr/>
      </dsp:nvSpPr>
      <dsp:spPr>
        <a:xfrm>
          <a:off x="0" y="94849"/>
          <a:ext cx="7932737" cy="6786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Vergleich verschiedener KI-TOOLS</a:t>
          </a:r>
          <a:endParaRPr lang="en-US" sz="2900" kern="1200" dirty="0"/>
        </a:p>
      </dsp:txBody>
      <dsp:txXfrm>
        <a:off x="33127" y="127976"/>
        <a:ext cx="7866483" cy="612346"/>
      </dsp:txXfrm>
    </dsp:sp>
    <dsp:sp modelId="{7A79FB20-961C-4627-A100-F5E21F561DA5}">
      <dsp:nvSpPr>
        <dsp:cNvPr id="0" name=""/>
        <dsp:cNvSpPr/>
      </dsp:nvSpPr>
      <dsp:spPr>
        <a:xfrm>
          <a:off x="0" y="856969"/>
          <a:ext cx="7932737" cy="6786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de-DE" sz="2900" kern="1200" dirty="0"/>
            <a:t>Effizienz und Qualitätssteigerung durch KI</a:t>
          </a:r>
          <a:endParaRPr lang="en-US" sz="2900" kern="1200" dirty="0"/>
        </a:p>
      </dsp:txBody>
      <dsp:txXfrm>
        <a:off x="33127" y="890096"/>
        <a:ext cx="7866483" cy="612346"/>
      </dsp:txXfrm>
    </dsp:sp>
    <dsp:sp modelId="{17921AE3-05BF-47FE-9D6E-3E1BE11A4AA9}">
      <dsp:nvSpPr>
        <dsp:cNvPr id="0" name=""/>
        <dsp:cNvSpPr/>
      </dsp:nvSpPr>
      <dsp:spPr>
        <a:xfrm>
          <a:off x="0" y="1619089"/>
          <a:ext cx="7932737" cy="678600"/>
        </a:xfrm>
        <a:prstGeom prst="roundRect">
          <a:avLst/>
        </a:prstGeom>
        <a:solidFill>
          <a:schemeClr val="accent2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Plagiat oder Eigenleistung</a:t>
          </a:r>
          <a:endParaRPr lang="en-US" sz="2900" kern="1200" dirty="0"/>
        </a:p>
      </dsp:txBody>
      <dsp:txXfrm>
        <a:off x="33127" y="1652216"/>
        <a:ext cx="7866483" cy="612346"/>
      </dsp:txXfrm>
    </dsp:sp>
    <dsp:sp modelId="{BE318E21-437E-47B8-8ECC-78767808E697}">
      <dsp:nvSpPr>
        <dsp:cNvPr id="0" name=""/>
        <dsp:cNvSpPr/>
      </dsp:nvSpPr>
      <dsp:spPr>
        <a:xfrm>
          <a:off x="0" y="2381209"/>
          <a:ext cx="7932737" cy="6786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Persönliche Präferenzen</a:t>
          </a:r>
          <a:endParaRPr lang="en-US" sz="2900" kern="1200" dirty="0"/>
        </a:p>
      </dsp:txBody>
      <dsp:txXfrm>
        <a:off x="33127" y="2414336"/>
        <a:ext cx="7866483" cy="6123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F281B-60C9-4D98-BB75-EE81972D4CAC}">
      <dsp:nvSpPr>
        <dsp:cNvPr id="0" name=""/>
        <dsp:cNvSpPr/>
      </dsp:nvSpPr>
      <dsp:spPr>
        <a:xfrm>
          <a:off x="0" y="14597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Vergleich verschiedener KI-TOOLS</a:t>
          </a:r>
          <a:endParaRPr lang="en-US" sz="2800" kern="1200" dirty="0"/>
        </a:p>
      </dsp:txBody>
      <dsp:txXfrm>
        <a:off x="31984" y="177954"/>
        <a:ext cx="7868769" cy="591232"/>
      </dsp:txXfrm>
    </dsp:sp>
    <dsp:sp modelId="{7A79FB20-961C-4627-A100-F5E21F561DA5}">
      <dsp:nvSpPr>
        <dsp:cNvPr id="0" name=""/>
        <dsp:cNvSpPr/>
      </dsp:nvSpPr>
      <dsp:spPr>
        <a:xfrm>
          <a:off x="0" y="91273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Effizienz und Qualitätssteigerung durch KI ?</a:t>
          </a:r>
          <a:endParaRPr lang="en-US" sz="2800" kern="1200" dirty="0"/>
        </a:p>
      </dsp:txBody>
      <dsp:txXfrm>
        <a:off x="31984" y="944714"/>
        <a:ext cx="7868769" cy="591232"/>
      </dsp:txXfrm>
    </dsp:sp>
    <dsp:sp modelId="{17921AE3-05BF-47FE-9D6E-3E1BE11A4AA9}">
      <dsp:nvSpPr>
        <dsp:cNvPr id="0" name=""/>
        <dsp:cNvSpPr/>
      </dsp:nvSpPr>
      <dsp:spPr>
        <a:xfrm>
          <a:off x="0" y="1617650"/>
          <a:ext cx="7932737" cy="655200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Plagiat oder Eigenleistung ?</a:t>
          </a:r>
          <a:endParaRPr lang="en-US" sz="2800" kern="1200" dirty="0"/>
        </a:p>
      </dsp:txBody>
      <dsp:txXfrm>
        <a:off x="31984" y="1649634"/>
        <a:ext cx="7868769" cy="591232"/>
      </dsp:txXfrm>
    </dsp:sp>
    <dsp:sp modelId="{BE318E21-437E-47B8-8ECC-78767808E697}">
      <dsp:nvSpPr>
        <dsp:cNvPr id="0" name=""/>
        <dsp:cNvSpPr/>
      </dsp:nvSpPr>
      <dsp:spPr>
        <a:xfrm>
          <a:off x="0" y="2353490"/>
          <a:ext cx="7932737" cy="655200"/>
        </a:xfrm>
        <a:prstGeom prst="roundRect">
          <a:avLst/>
        </a:prstGeom>
        <a:solidFill>
          <a:schemeClr val="accent2">
            <a:lumMod val="75000"/>
            <a:lumOff val="25000"/>
          </a:schemeClr>
        </a:solidFill>
        <a:ln w="25400" cap="flat" cmpd="sng" algn="ctr">
          <a:solidFill>
            <a:schemeClr val="accent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Persönliche Präferenzen</a:t>
          </a:r>
          <a:endParaRPr lang="en-US" sz="2800" kern="1200" dirty="0"/>
        </a:p>
      </dsp:txBody>
      <dsp:txXfrm>
        <a:off x="31984" y="2385474"/>
        <a:ext cx="7868769" cy="591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E86FAB69-F5D5-402A-9AB1-391C312EE082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</a:lstStyle>
          <a:p>
            <a:fld id="{3CF86119-2EA8-4295-87C6-F086E0D88C59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2642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E2639CD5-8E02-4ECC-BA34-5139703B2BFC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</a:lstStyle>
          <a:p>
            <a:fld id="{C62AB70D-A383-4359-A93D-1A42F392ABD0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598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Ich glaube, jeder von uns hat schon einmal ChatGPT </a:t>
            </a:r>
            <a:r>
              <a:rPr lang="de-DE" dirty="0" err="1"/>
              <a:t>gü</a:t>
            </a:r>
            <a:r>
              <a:rPr lang="de-DE" dirty="0"/>
              <a:t> ne Uni-Aufgabe genutzt (</a:t>
            </a:r>
            <a:r>
              <a:rPr lang="de-DE" dirty="0" err="1"/>
              <a:t>Googlen</a:t>
            </a:r>
            <a:r>
              <a:rPr lang="de-DE" dirty="0"/>
              <a:t>, Etwas Zusammenfassen, Coden/ Debuggen)</a:t>
            </a:r>
          </a:p>
          <a:p>
            <a:r>
              <a:rPr lang="de-DE" dirty="0"/>
              <a:t>Und wahrscheinlich hat sich auch jede*r schon gefragt, inwiefern dieses Tool  für eine BA oder Hausarbeit nutzen kann.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Und genau darum geht es heute: </a:t>
            </a:r>
            <a:br>
              <a:rPr lang="de-DE" dirty="0"/>
            </a:br>
            <a:r>
              <a:rPr lang="de-DE" dirty="0"/>
              <a:t>Tools vorstellen welche einem beim Schreiben von akademischen Texten unterstützend helfen können. </a:t>
            </a:r>
            <a:br>
              <a:rPr lang="de-DE" dirty="0"/>
            </a:br>
            <a:r>
              <a:rPr lang="de-DE" dirty="0"/>
              <a:t>Gehe bewusst nicht auf Chat-GPT ein, da dies vermutlich jeder kennt </a:t>
            </a:r>
          </a:p>
          <a:p>
            <a:endParaRPr lang="de-DE" dirty="0"/>
          </a:p>
          <a:p>
            <a:endParaRPr 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Eine aktuelle Studie von De Gruyter Brill (2025) zeigt, dass über 91 % der Promovierenden bereits KI-Tools beim Schreiben wissenschaftlicher Texte einsetzen.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de-DE" dirty="0"/>
            </a:b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D65C9C4-0649-4DB0-9E23-657921800988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88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23E3378-5974-4FD7-8269-40A1A70D66C5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55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2A06477-AA18-4264-BB40-CC02F73370BF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333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7AD9-62AB-98B1-29E9-5C14492F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67025C-5EDA-4FD7-50B2-760D47294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C42AC2-A16E-3828-EB45-7789BDE2B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Schnittstelle, mit der man DEEPL automatisch in eigene Software einbauen kann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Die Studie zeigt dass die meisten Teilnehmer das Thema schon kannten, was vielleicht ein bisschen das Ergebnis beeinflusst.</a:t>
            </a:r>
          </a:p>
          <a:p>
            <a:r>
              <a:rPr lang="de-DE" dirty="0"/>
              <a:t>Man sieht, dass sich in den letzten Jahren viel verändert hat, aber man weiß nicht genau, ob positiv oder negativ ist.</a:t>
            </a:r>
          </a:p>
          <a:p>
            <a:r>
              <a:rPr lang="de-DE" dirty="0"/>
              <a:t>Es wurde untersucht, wie Leute auf bestimmte Situationen reagieren. Die Reaktionen waren jedoch  nicht bei allen gleich.</a:t>
            </a:r>
          </a:p>
          <a:p>
            <a:r>
              <a:rPr lang="de-DE" dirty="0"/>
              <a:t>Obwohl die Stichprobe klein war, lassen sich erste Tendenzen erkennen.</a:t>
            </a:r>
          </a:p>
          <a:p>
            <a:r>
              <a:rPr lang="de-DE" dirty="0"/>
              <a:t>„Die Ergebnisse stimmen teilweise mit früheren Untersuchungen überein, weisen jedoch auch Unterschiede auf.</a:t>
            </a:r>
          </a:p>
          <a:p>
            <a:r>
              <a:rPr lang="de-DE" dirty="0"/>
              <a:t>Generalisierbarkeit einschränkt.“</a:t>
            </a:r>
          </a:p>
          <a:p>
            <a:r>
              <a:rPr lang="de-DE" dirty="0"/>
              <a:t>„Die Daten basieren zudem auf Selbstangaben, die subjektiv beeinflusst sein könnten.“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C853D0-1809-4475-9F38-4CF76C88DC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6F73B93-41A0-44F2-B9DD-359AC8C69730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87A408-AD3A-E7AA-DDA5-7F6BCC76F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433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Schnittstelle, mit der man DEEPL automatisch in eigene Software einbauen kann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Die Studie zeigt dass die meisten Teilnehmer das Thema schon kannten, was vielleicht ein bisschen das Ergebnis beeinflusst.</a:t>
            </a:r>
          </a:p>
          <a:p>
            <a:r>
              <a:rPr lang="de-DE" dirty="0"/>
              <a:t>Man sieht, dass sich in den letzten Jahren viel verändert hat, aber man weiß nicht genau, ob positiv oder negativ ist.</a:t>
            </a:r>
          </a:p>
          <a:p>
            <a:r>
              <a:rPr lang="de-DE" dirty="0"/>
              <a:t>Es wurde untersucht, wie Leute auf bestimmte Situationen reagieren. Die Reaktionen waren jedoch  nicht bei allen gleich.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AFFEC32D-B1C4-41DB-A5C0-C97CE459BFC1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952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Retrieval-</a:t>
            </a:r>
            <a:r>
              <a:rPr lang="de-DE" b="1" dirty="0" err="1"/>
              <a:t>Augmented</a:t>
            </a:r>
            <a:r>
              <a:rPr lang="de-DE" b="1" dirty="0"/>
              <a:t> Generation (RAG)</a:t>
            </a:r>
            <a:r>
              <a:rPr lang="de-DE" dirty="0"/>
              <a:t>: Modell kombiniert eigene generierte Inhalte mit Echtzeit-Web-Informationen.</a:t>
            </a:r>
          </a:p>
          <a:p>
            <a:endParaRPr lang="de-DE" dirty="0"/>
          </a:p>
          <a:p>
            <a:endParaRPr lang="en-US" dirty="0"/>
          </a:p>
          <a:p>
            <a:r>
              <a:rPr lang="de-DE" dirty="0"/>
              <a:t>Die Studie zeigt dass die meisten Teilnehmer das Thema schon kannten, was vielleicht ein bisschen das Ergebnis beeinflusst.</a:t>
            </a:r>
          </a:p>
          <a:p>
            <a:r>
              <a:rPr lang="de-DE" dirty="0"/>
              <a:t>Man sieht, dass sich in den letzten Jahren viel verändert hat, aber man weiß nicht genau, ob positiv oder negativ ist.</a:t>
            </a:r>
          </a:p>
          <a:p>
            <a:r>
              <a:rPr lang="de-DE" dirty="0"/>
              <a:t>Es wurde untersucht, wie Leute auf bestimmte Situationen reagieren. Die Reaktionen waren jedoch  nicht bei allen gleich.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DDE9733-AE41-48AB-B993-5CA3072D97EC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07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29B8-A2DE-E8F7-7AFD-B7B2B4A9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D4AA9-6141-69BD-EF26-D761BCC75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CE8F7A2-34F7-B860-25C0-DBD664415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Studie zeigt dass die meisten Teilnehmer das Thema schon kannten, was vielleicht ein bisschen das Ergebnis beeinflusst.</a:t>
            </a:r>
          </a:p>
          <a:p>
            <a:r>
              <a:rPr lang="de-DE" dirty="0"/>
              <a:t>Man sieht, dass sich in den letzten Jahren viel verändert hat, aber man weiß nicht genau, ob positiv oder negativ ist.</a:t>
            </a:r>
          </a:p>
          <a:p>
            <a:r>
              <a:rPr lang="de-DE" dirty="0"/>
              <a:t>Es wurde untersucht, wie Leute auf bestimmte Situationen reagieren. Die Reaktionen waren jedoch  nicht bei allen gleich.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206AE7-B86D-1F2C-2421-3B1DAEFA561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4ADA502-E277-4FFF-BCB5-6C828D660B51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85D6C4-56D1-F2E9-DC82-54CFEA47C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703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Vergleiche verschiedene Künstliche Intelligenz (KI)-Tools für die Erstellung akademischer Texte  (DeepL, </a:t>
            </a:r>
            <a:r>
              <a:rPr lang="de-DE" dirty="0" err="1"/>
              <a:t>QuillBot</a:t>
            </a:r>
            <a:r>
              <a:rPr lang="de-DE" dirty="0"/>
              <a:t>, </a:t>
            </a:r>
            <a:r>
              <a:rPr lang="de-DE" dirty="0" err="1"/>
              <a:t>Perplexity</a:t>
            </a:r>
            <a:r>
              <a:rPr lang="de-DE" dirty="0"/>
              <a:t> und Jenni AI). gehe ein Output-Qualität, die rechtliche Grundlage </a:t>
            </a:r>
            <a:r>
              <a:rPr lang="de-DE" dirty="0" err="1"/>
              <a:t>bzg</a:t>
            </a:r>
            <a:r>
              <a:rPr lang="de-DE" dirty="0"/>
              <a:t> Plagiat, </a:t>
            </a:r>
            <a:r>
              <a:rPr lang="de-DE" dirty="0" err="1"/>
              <a:t>Daatenschutz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865E75F-EE42-4CA8-96BB-4E4401B54CD0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620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A75AC9B-1D6C-4D03-9215-B2A9AA5AF695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648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Richtige Prompts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D0BC5CA-C14A-49B0-A93E-58EA84805C8E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472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142BB99-80A7-4924-A247-C8E7A229A720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879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52C2-F933-F7CD-BEED-5CCA981D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684FE9-6A79-DD43-AFC2-3B09DE18D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BE84FF-D1FC-3ACA-9120-657C59AA1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210960-129B-77B7-8413-6C03BA5AF58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D35674A8-6111-4B6B-BE22-4DAA3A351326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57BE7B-190B-40BA-E3AE-4671F0636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350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167CD63C-7FB5-4315-AF28-69E95AE2BC25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556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9574-7F57-4E0C-6922-44CA9A72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375FFE3-617D-8C71-8A06-0C9359AAA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975B78-55DB-E794-114D-1D5C8B793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F1825-CFE9-FD77-0FCC-CA8D5D3A068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58B81C8-E4A9-4804-9792-D2253EC32443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540496-5D94-C480-745E-B26CD1CA5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195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F9A1-AF5F-31B8-69E0-98D3EFA5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FC64DF-31FD-3431-13AA-D3149BD2C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B3BA9F-F5B1-1688-3776-E325BBC8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6FD932-9A85-D469-8E78-63CEEB683B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7529144-1AA2-4A1E-AF15-2FA0C6C66ADC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7E3BFF-64EF-215D-8E3C-A2BA41357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9583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A04D-9F11-FF79-46BA-2D06B80B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49D1DE3-EDC8-0D8B-FC11-D174355CA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C16DBA5-113F-4981-9846-2387AC66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FFD665-BF76-1605-2C12-D89010D1EBD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EEBC0EBC-4543-438A-A9E0-07081021B680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389C43-74B5-2ECE-AD99-DBB76B8F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739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FDC4A21-B08E-42F0-AFAB-8D71677D15E4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051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02A4F-C20D-2C23-C4E9-A4543C91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86E377-214F-40C6-C8FB-836E62802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F2CF4B-1FE9-EDC5-D1B9-45F4E747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Assignment1: keine KI     ,         </a:t>
            </a:r>
            <a:r>
              <a:rPr lang="de-DE" dirty="0" err="1"/>
              <a:t>Assignmeit</a:t>
            </a:r>
            <a:r>
              <a:rPr lang="de-DE" dirty="0"/>
              <a:t> 3: mit KI 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EE3656-B6FA-2C6D-9C20-AC68F232AF3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A3E42D6-EEDC-4A18-8010-AD06E29B185E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54C307-0F21-5F17-54A3-42B63912A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724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 50% bessere Lesbarkeit</a:t>
            </a:r>
            <a:br>
              <a:rPr lang="de-DE" dirty="0"/>
            </a:br>
            <a:r>
              <a:rPr lang="de-DE" dirty="0" err="1"/>
              <a:t>Grammati</a:t>
            </a:r>
            <a:r>
              <a:rPr lang="de-DE" dirty="0"/>
              <a:t>: 22 %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wie wahrscheinlich es ist das Chat-</a:t>
            </a:r>
            <a:r>
              <a:rPr lang="de-DE" dirty="0" err="1"/>
              <a:t>GPt</a:t>
            </a:r>
            <a:r>
              <a:rPr lang="de-DE" dirty="0"/>
              <a:t> genutzt wurde </a:t>
            </a:r>
            <a:br>
              <a:rPr lang="de-DE" dirty="0"/>
            </a:br>
            <a:r>
              <a:rPr lang="de-DE" dirty="0"/>
              <a:t>aber nicht wie wahrscheinlich es ist dass ein anderes </a:t>
            </a:r>
            <a:r>
              <a:rPr lang="de-DE" dirty="0" err="1"/>
              <a:t>TOOl</a:t>
            </a:r>
            <a:r>
              <a:rPr lang="de-DE" dirty="0"/>
              <a:t> genutzt wurde 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belibetesten</a:t>
            </a:r>
            <a:r>
              <a:rPr lang="de-DE" dirty="0"/>
              <a:t> Tools: DeepL, Chat-GPT, Grammarly 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74FB40-913F-472B-8BDB-FEA73C08EE2A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279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D57B-0514-7A7A-6709-C885F6FD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CDC462-0C56-2A99-2CB5-304FC529B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0610BB-046D-0700-F02A-76B1288B1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E5E1B-A44E-64F0-B14B-82157FE98B7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8CC7867-E009-4AFE-9B43-907483B3C2F4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1F1874-3304-0040-C4CD-82074DABA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6325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3A5AEA0-ADBF-4F37-8F00-6B476E0A5764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338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CB27-85CC-2E2B-043A-E22653CC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7BCD00-CF1C-320C-83D4-1297ADB5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3ED92D-2BD5-23BE-D954-3FD904623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DEA044-BB10-2774-8DC3-1FF265F2C9E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1EF5500C-52C2-4A1F-A674-30C82BAD3606}" type="datetime1">
              <a:rPr lang="de-DE" smtClean="0"/>
              <a:t>02.11.2025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C672B5-D921-B5D5-22B6-095B28A6F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AB70D-A383-4359-A93D-1A42F392ABD0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92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ragstitelvorschla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9"/>
          <p:cNvSpPr>
            <a:spLocks noChangeArrowheads="1"/>
          </p:cNvSpPr>
          <p:nvPr/>
        </p:nvSpPr>
        <p:spPr bwMode="auto">
          <a:xfrm>
            <a:off x="0" y="4156075"/>
            <a:ext cx="9144000" cy="995363"/>
          </a:xfrm>
          <a:prstGeom prst="rect">
            <a:avLst/>
          </a:prstGeom>
          <a:solidFill>
            <a:srgbClr val="006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1pPr>
            <a:lvl2pPr marL="742950" indent="-28575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2pPr>
            <a:lvl3pPr marL="11430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3pPr>
            <a:lvl4pPr marL="16002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4pPr>
            <a:lvl5pPr marL="20574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9pPr>
          </a:lstStyle>
          <a:p>
            <a:endParaRPr lang="de-DE">
              <a:solidFill>
                <a:srgbClr val="0069B4"/>
              </a:solidFill>
            </a:endParaRPr>
          </a:p>
        </p:txBody>
      </p:sp>
      <p:pic>
        <p:nvPicPr>
          <p:cNvPr id="4" name="Grafik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339725"/>
            <a:ext cx="6086475" cy="24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 1"/>
          <p:cNvSpPr>
            <a:spLocks noGrp="1"/>
          </p:cNvSpPr>
          <p:nvPr>
            <p:ph type="ctrTitle"/>
          </p:nvPr>
        </p:nvSpPr>
        <p:spPr>
          <a:xfrm>
            <a:off x="2184219" y="4238175"/>
            <a:ext cx="4775561" cy="830996"/>
          </a:xfrm>
          <a:prstGeom prst="rect">
            <a:avLst/>
          </a:prstGeom>
        </p:spPr>
        <p:txBody>
          <a:bodyPr anchor="b"/>
          <a:lstStyle>
            <a:lvl1pPr algn="ctr">
              <a:defRPr sz="2400" b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52439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ragstitelvorschla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9"/>
          <p:cNvSpPr>
            <a:spLocks noChangeArrowheads="1"/>
          </p:cNvSpPr>
          <p:nvPr/>
        </p:nvSpPr>
        <p:spPr bwMode="auto">
          <a:xfrm>
            <a:off x="0" y="4156075"/>
            <a:ext cx="9144000" cy="995363"/>
          </a:xfrm>
          <a:prstGeom prst="rect">
            <a:avLst/>
          </a:prstGeom>
          <a:solidFill>
            <a:srgbClr val="006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1pPr>
            <a:lvl2pPr marL="742950" indent="-28575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2pPr>
            <a:lvl3pPr marL="11430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3pPr>
            <a:lvl4pPr marL="16002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4pPr>
            <a:lvl5pPr marL="2057400" indent="-228600" algn="ctr"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Lucida Grande CY" pitchFamily="34" charset="0"/>
                <a:ea typeface="ヒラギノ角ゴ Pro W3" pitchFamily="34" charset="-128"/>
              </a:defRPr>
            </a:lvl9pPr>
          </a:lstStyle>
          <a:p>
            <a:endParaRPr lang="de-DE"/>
          </a:p>
        </p:txBody>
      </p:sp>
      <p:pic>
        <p:nvPicPr>
          <p:cNvPr id="5" name="Grafik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8288"/>
            <a:ext cx="45561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el 4"/>
          <p:cNvSpPr>
            <a:spLocks noGrp="1"/>
          </p:cNvSpPr>
          <p:nvPr>
            <p:ph type="title"/>
          </p:nvPr>
        </p:nvSpPr>
        <p:spPr>
          <a:xfrm>
            <a:off x="539552" y="2914975"/>
            <a:ext cx="5598566" cy="12411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 b="1">
                <a:solidFill>
                  <a:srgbClr val="0069B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/>
          </p:nvPr>
        </p:nvSpPr>
        <p:spPr>
          <a:xfrm>
            <a:off x="395536" y="4300538"/>
            <a:ext cx="5599113" cy="647700"/>
          </a:xfrm>
          <a:prstGeom prst="rect">
            <a:avLst/>
          </a:prstGeom>
        </p:spPr>
        <p:txBody>
          <a:bodyPr lIns="0" tIns="46800" anchor="t"/>
          <a:lstStyle>
            <a:lvl1pPr marL="217884" indent="0" algn="l">
              <a:buNone/>
              <a:defRPr sz="160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3906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ografi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325938"/>
            <a:ext cx="187325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erade Verbindung 12"/>
          <p:cNvCxnSpPr>
            <a:cxnSpLocks/>
          </p:cNvCxnSpPr>
          <p:nvPr/>
        </p:nvCxnSpPr>
        <p:spPr bwMode="auto">
          <a:xfrm>
            <a:off x="0" y="4300538"/>
            <a:ext cx="92519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3096344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3"/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7700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325938"/>
            <a:ext cx="187325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erade Verbindung 12"/>
          <p:cNvCxnSpPr>
            <a:cxnSpLocks/>
          </p:cNvCxnSpPr>
          <p:nvPr/>
        </p:nvCxnSpPr>
        <p:spPr bwMode="auto">
          <a:xfrm>
            <a:off x="0" y="4300538"/>
            <a:ext cx="92519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abellenplatzhalter 4"/>
          <p:cNvSpPr>
            <a:spLocks noGrp="1"/>
          </p:cNvSpPr>
          <p:nvPr>
            <p:ph type="tbl" sz="quarter" idx="10"/>
          </p:nvPr>
        </p:nvSpPr>
        <p:spPr>
          <a:xfrm>
            <a:off x="604840" y="857251"/>
            <a:ext cx="7932737" cy="31546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FontTx/>
              <a:buNone/>
              <a:defRPr sz="900">
                <a:solidFill>
                  <a:schemeClr val="tx1"/>
                </a:solidFill>
                <a:latin typeface="Lucida Sans Unicode"/>
              </a:defRPr>
            </a:lvl1pPr>
          </a:lstStyle>
          <a:p>
            <a:pPr lvl="0"/>
            <a:r>
              <a:rPr lang="de-DE" noProof="0">
                <a:sym typeface="Lucida Grande" charset="0"/>
              </a:rPr>
              <a:t>Tabelle durch Klicken auf Symbol hinzufügen</a:t>
            </a:r>
            <a:endParaRPr lang="de-DE" noProof="0" dirty="0">
              <a:sym typeface="Lucida Grande" charset="0"/>
            </a:endParaRP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0" name="Titel 4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339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Einspaltig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325938"/>
            <a:ext cx="187325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Gerade Verbindung 12"/>
          <p:cNvCxnSpPr>
            <a:cxnSpLocks/>
          </p:cNvCxnSpPr>
          <p:nvPr/>
        </p:nvCxnSpPr>
        <p:spPr bwMode="auto">
          <a:xfrm>
            <a:off x="0" y="4300538"/>
            <a:ext cx="92519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Bildplatzhalter 8"/>
          <p:cNvSpPr>
            <a:spLocks noGrp="1"/>
          </p:cNvSpPr>
          <p:nvPr>
            <p:ph type="pic" sz="quarter" idx="12"/>
          </p:nvPr>
        </p:nvSpPr>
        <p:spPr>
          <a:xfrm>
            <a:off x="615404" y="987574"/>
            <a:ext cx="2516734" cy="2952328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vert="horz"/>
          <a:lstStyle>
            <a:lvl1pPr>
              <a:defRPr>
                <a:latin typeface="Lucida Sans Unicode"/>
              </a:defRPr>
            </a:lvl1pPr>
          </a:lstStyle>
          <a:p>
            <a:pPr lvl="0"/>
            <a:r>
              <a:rPr lang="de-DE" noProof="0">
                <a:sym typeface="Lucida Grande" charset="0"/>
              </a:rPr>
              <a:t>Bild durch Klicken auf Symbol hinzufügen</a:t>
            </a:r>
            <a:endParaRPr lang="de-DE" noProof="0" dirty="0">
              <a:sym typeface="Lucida Grande" charset="0"/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0"/>
          </p:nvPr>
        </p:nvSpPr>
        <p:spPr>
          <a:xfrm>
            <a:off x="3419872" y="1004046"/>
            <a:ext cx="5108724" cy="2935855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itel 4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90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325938"/>
            <a:ext cx="187325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erade Verbindung 12"/>
          <p:cNvCxnSpPr>
            <a:cxnSpLocks/>
          </p:cNvCxnSpPr>
          <p:nvPr/>
        </p:nvCxnSpPr>
        <p:spPr bwMode="auto">
          <a:xfrm>
            <a:off x="0" y="4300538"/>
            <a:ext cx="92519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604837" y="1004046"/>
            <a:ext cx="5191125" cy="2935854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vert="horz"/>
          <a:lstStyle>
            <a:lvl1pPr>
              <a:defRPr>
                <a:latin typeface="Lucida Sans Unicode"/>
              </a:defRPr>
            </a:lvl1pPr>
          </a:lstStyle>
          <a:p>
            <a:pPr lvl="0"/>
            <a:r>
              <a:rPr lang="de-DE" noProof="0">
                <a:sym typeface="Lucida Grande" charset="0"/>
              </a:rPr>
              <a:t>Bild durch Klicken auf Symbol hinzufügen</a:t>
            </a:r>
            <a:endParaRPr lang="de-DE" noProof="0" dirty="0">
              <a:sym typeface="Lucida Grande" charset="0"/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0"/>
          </p:nvPr>
        </p:nvSpPr>
        <p:spPr>
          <a:xfrm>
            <a:off x="6012160" y="1004046"/>
            <a:ext cx="2516436" cy="2935855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itel 4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025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erade Verbindung 28"/>
          <p:cNvCxnSpPr/>
          <p:nvPr/>
        </p:nvCxnSpPr>
        <p:spPr bwMode="auto">
          <a:xfrm>
            <a:off x="-990600" y="3259138"/>
            <a:ext cx="11220450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 bwMode="auto">
          <a:xfrm>
            <a:off x="-990600" y="1201738"/>
            <a:ext cx="11220450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 bwMode="auto">
          <a:xfrm>
            <a:off x="-900113" y="3363913"/>
            <a:ext cx="11220451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/>
          <p:cNvCxnSpPr/>
          <p:nvPr/>
        </p:nvCxnSpPr>
        <p:spPr bwMode="auto">
          <a:xfrm>
            <a:off x="-990600" y="3598863"/>
            <a:ext cx="11220450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/>
        </p:nvCxnSpPr>
        <p:spPr bwMode="auto">
          <a:xfrm>
            <a:off x="-990600" y="1884363"/>
            <a:ext cx="11220450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 bwMode="auto">
          <a:xfrm>
            <a:off x="-1404938" y="469900"/>
            <a:ext cx="11220451" cy="1588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5"/>
          <p:cNvCxnSpPr/>
          <p:nvPr/>
        </p:nvCxnSpPr>
        <p:spPr bwMode="auto">
          <a:xfrm>
            <a:off x="3635375" y="1363663"/>
            <a:ext cx="11220450" cy="1587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27"/>
          <p:cNvCxnSpPr/>
          <p:nvPr/>
        </p:nvCxnSpPr>
        <p:spPr bwMode="auto">
          <a:xfrm>
            <a:off x="3725863" y="3527425"/>
            <a:ext cx="11220450" cy="0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hf hdr="0" ftr="0" dt="0"/>
  <p:txStyles>
    <p:titleStyle>
      <a:lvl1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00">
          <a:solidFill>
            <a:schemeClr val="tx1"/>
          </a:solidFill>
          <a:latin typeface="+mj-lt"/>
          <a:ea typeface="+mj-ea"/>
          <a:cs typeface="+mj-cs"/>
          <a:sym typeface="Lucida Grande" pitchFamily="34" charset="0"/>
        </a:defRPr>
      </a:lvl1pPr>
      <a:lvl2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00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34" charset="0"/>
        </a:defRPr>
      </a:lvl2pPr>
      <a:lvl3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00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34" charset="0"/>
        </a:defRPr>
      </a:lvl3pPr>
      <a:lvl4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00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34" charset="0"/>
        </a:defRPr>
      </a:lvl4pPr>
      <a:lvl5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00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34" charset="0"/>
        </a:defRPr>
      </a:lvl5pPr>
      <a:lvl6pPr marL="3429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6pPr>
      <a:lvl7pPr marL="6858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7pPr>
      <a:lvl8pPr marL="10287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8pPr>
      <a:lvl9pPr marL="13716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9pPr>
    </p:titleStyle>
    <p:bodyStyle>
      <a:lvl1pPr marL="557213" indent="-338138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34" charset="0"/>
        <a:buChar char="•"/>
        <a:defRPr sz="900">
          <a:solidFill>
            <a:schemeClr val="bg2"/>
          </a:solidFill>
          <a:latin typeface="+mn-lt"/>
          <a:ea typeface="+mn-ea"/>
          <a:cs typeface="+mn-cs"/>
          <a:sym typeface="Lucida Grande" pitchFamily="34" charset="0"/>
        </a:defRPr>
      </a:lvl1pPr>
      <a:lvl2pPr marL="862013" indent="-338138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34" charset="0"/>
        <a:buChar char="•"/>
        <a:defRPr sz="900">
          <a:solidFill>
            <a:schemeClr val="bg1"/>
          </a:solidFill>
          <a:latin typeface="+mn-lt"/>
          <a:ea typeface="+mn-ea"/>
          <a:cs typeface="+mn-cs"/>
          <a:sym typeface="Lucida Grande" pitchFamily="34" charset="0"/>
        </a:defRPr>
      </a:lvl2pPr>
      <a:lvl3pPr marL="1168400" indent="-338138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34" charset="0"/>
        <a:buChar char="•"/>
        <a:defRPr sz="900">
          <a:solidFill>
            <a:schemeClr val="bg1"/>
          </a:solidFill>
          <a:latin typeface="+mn-lt"/>
          <a:ea typeface="+mn-ea"/>
          <a:cs typeface="+mn-cs"/>
          <a:sym typeface="Lucida Grande" pitchFamily="34" charset="0"/>
        </a:defRPr>
      </a:lvl3pPr>
      <a:lvl4pPr marL="1473200" indent="-338138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34" charset="0"/>
        <a:buChar char="•"/>
        <a:defRPr sz="900">
          <a:solidFill>
            <a:schemeClr val="bg1"/>
          </a:solidFill>
          <a:latin typeface="+mn-lt"/>
          <a:ea typeface="+mn-ea"/>
          <a:cs typeface="+mn-cs"/>
          <a:sym typeface="Lucida Grande" pitchFamily="34" charset="0"/>
        </a:defRPr>
      </a:lvl4pPr>
      <a:lvl5pPr marL="1779588" indent="-338138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34" charset="0"/>
        <a:buChar char="•"/>
        <a:defRPr sz="900">
          <a:solidFill>
            <a:schemeClr val="bg1"/>
          </a:solidFill>
          <a:latin typeface="+mn-lt"/>
          <a:ea typeface="+mn-ea"/>
          <a:cs typeface="+mn-cs"/>
          <a:sym typeface="Lucida Grande" pitchFamily="34" charset="0"/>
        </a:defRPr>
      </a:lvl5pPr>
      <a:lvl6pPr marL="21228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6pPr>
      <a:lvl7pPr marL="24657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7pPr>
      <a:lvl8pPr marL="28086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8pPr>
      <a:lvl9pPr marL="31515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.com/de/writ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quillbot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plexity.a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enni.ai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.com/de/privacy" TargetMode="External"/><Relationship Id="rId7" Type="http://schemas.openxmlformats.org/officeDocument/2006/relationships/hyperlink" Target="https://arxiv.org/pdf/2404.01268" TargetMode="External"/><Relationship Id="rId2" Type="http://schemas.openxmlformats.org/officeDocument/2006/relationships/hyperlink" Target="https://www.deepl.com/de/pro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mc.ncbi.nlm.nih.gov/articles/PMC10844801/" TargetMode="External"/><Relationship Id="rId5" Type="http://schemas.openxmlformats.org/officeDocument/2006/relationships/hyperlink" Target="https://help.jenni.ai/en/articles/11135457-data-protection-privacy-for-uploaded-papers" TargetMode="External"/><Relationship Id="rId4" Type="http://schemas.openxmlformats.org/officeDocument/2006/relationships/hyperlink" Target="https://quillbot.com/trust-center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ssrn.com/sol3/papers.cfm?abstract_id=4941022" TargetMode="External"/><Relationship Id="rId2" Type="http://schemas.openxmlformats.org/officeDocument/2006/relationships/hyperlink" Target="https://arxiv.org/pdf/2502.00632" TargetMode="Externa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el 1"/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2499742"/>
            <a:ext cx="8136706" cy="14403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de-DE" sz="3200" dirty="0"/>
              <a:t>Schreiben 2.0: KI im akademischen Kontext</a:t>
            </a:r>
            <a:br>
              <a:rPr lang="de-DE" dirty="0"/>
            </a:br>
            <a:br>
              <a:rPr lang="de-DE" dirty="0"/>
            </a:br>
            <a:r>
              <a:rPr lang="de-DE" dirty="0"/>
              <a:t>KI in Forschung und Lehre</a:t>
            </a:r>
          </a:p>
        </p:txBody>
      </p:sp>
      <p:pic>
        <p:nvPicPr>
          <p:cNvPr id="1026" name="Picture 2" descr="Ovgu Logo Övgü Toköz Global Sales Project Manager Valmet">
            <a:extLst>
              <a:ext uri="{FF2B5EF4-FFF2-40B4-BE49-F238E27FC236}">
                <a16:creationId xmlns:a16="http://schemas.microsoft.com/office/drawing/2014/main" id="{FDA93171-7658-8BEC-32A4-A242F2B11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67494"/>
            <a:ext cx="3707904" cy="156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20F2EA9-E8D1-F3B5-11C7-A8BF7681D201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844208-CC75-22E7-AA9A-2C34F4170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82F942-C220-1AC9-3E81-5D317D1E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</p:spPr>
        <p:txBody>
          <a:bodyPr anchor="b">
            <a:normAutofit/>
          </a:bodyPr>
          <a:lstStyle/>
          <a:p>
            <a:r>
              <a:rPr lang="de-DE" dirty="0"/>
              <a:t>Gliederung </a:t>
            </a:r>
            <a:endParaRPr lang="en-US" dirty="0"/>
          </a:p>
        </p:txBody>
      </p:sp>
      <p:graphicFrame>
        <p:nvGraphicFramePr>
          <p:cNvPr id="6" name="Textplatzhalter 2">
            <a:extLst>
              <a:ext uri="{FF2B5EF4-FFF2-40B4-BE49-F238E27FC236}">
                <a16:creationId xmlns:a16="http://schemas.microsoft.com/office/drawing/2014/main" id="{61F10AFA-5717-7FA6-F648-AAC8A70FD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51985"/>
              </p:ext>
            </p:extLst>
          </p:nvPr>
        </p:nvGraphicFramePr>
        <p:xfrm>
          <a:off x="604840" y="857251"/>
          <a:ext cx="7932737" cy="3154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278B2FB-849B-B087-A543-D7B72E1CF71B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933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A1C9C-46BE-643C-04BA-4876EF03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92DE1C-8A81-7970-DB7B-236C031E7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334" y="5092028"/>
            <a:ext cx="7908925" cy="491807"/>
          </a:xfrm>
        </p:spPr>
        <p:txBody>
          <a:bodyPr/>
          <a:lstStyle/>
          <a:p>
            <a:pPr marL="217884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91D253-55C7-CAD3-C357-F246E3129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epL Logo PNG Vector (SVG) Free Download">
            <a:extLst>
              <a:ext uri="{FF2B5EF4-FFF2-40B4-BE49-F238E27FC236}">
                <a16:creationId xmlns:a16="http://schemas.microsoft.com/office/drawing/2014/main" id="{D9B74FE3-D192-9A24-F652-60E6050A7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15" y="915566"/>
            <a:ext cx="17621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64B7CD0-9614-C549-09EF-4CA348C4A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1" y="1317372"/>
            <a:ext cx="3168352" cy="8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19B6174-17A9-D481-CED4-27F13C632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39" y="2571750"/>
            <a:ext cx="1925437" cy="80226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B21B4E4-88CB-E0A3-4904-5F680A248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239" y="2571750"/>
            <a:ext cx="3055991" cy="109065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2633380-9DF7-1326-B3E3-26D178EE3736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3767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888C-060F-41D4-CED6-E7F04A46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C9BBD-33C8-5F14-203E-50668AE7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0620672" y="274638"/>
            <a:ext cx="1944216" cy="13610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C6FCD6-A1E2-1295-4787-001EC3406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5" y="915566"/>
            <a:ext cx="5837784" cy="3096344"/>
          </a:xfrm>
        </p:spPr>
        <p:txBody>
          <a:bodyPr/>
          <a:lstStyle/>
          <a:p>
            <a:r>
              <a:rPr lang="de-DE" dirty="0"/>
              <a:t>Neuronales Netz </a:t>
            </a:r>
          </a:p>
          <a:p>
            <a:pPr marL="217884" indent="0">
              <a:buNone/>
            </a:pPr>
            <a:endParaRPr lang="de-DE" dirty="0"/>
          </a:p>
          <a:p>
            <a:r>
              <a:rPr lang="de-DE" dirty="0"/>
              <a:t>trainiert und </a:t>
            </a:r>
            <a:r>
              <a:rPr lang="de-DE" dirty="0" err="1"/>
              <a:t>regularisiert</a:t>
            </a:r>
            <a:r>
              <a:rPr lang="de-DE" dirty="0"/>
              <a:t> auf Textübersetzung und Textumformulierung</a:t>
            </a:r>
          </a:p>
          <a:p>
            <a:endParaRPr lang="de-DE" dirty="0"/>
          </a:p>
          <a:p>
            <a:r>
              <a:rPr lang="de-DE" dirty="0"/>
              <a:t>Kostenlose Version, pro Version</a:t>
            </a:r>
          </a:p>
          <a:p>
            <a:endParaRPr lang="de-DE" dirty="0"/>
          </a:p>
          <a:p>
            <a:r>
              <a:rPr lang="de-DE" dirty="0"/>
              <a:t>Daten werden nicht gespeichert oder für Trainingszwecke  genutzt (pro </a:t>
            </a:r>
            <a:r>
              <a:rPr lang="de-DE" dirty="0" err="1"/>
              <a:t>version</a:t>
            </a:r>
            <a:r>
              <a:rPr lang="de-DE" dirty="0"/>
              <a:t>) [Q1,Q2]</a:t>
            </a:r>
          </a:p>
          <a:p>
            <a:endParaRPr lang="de-DE" dirty="0"/>
          </a:p>
          <a:p>
            <a:r>
              <a:rPr lang="de-DE" dirty="0"/>
              <a:t>Bereitstellung einer API </a:t>
            </a:r>
          </a:p>
          <a:p>
            <a:endParaRPr lang="de-DE" dirty="0"/>
          </a:p>
          <a:p>
            <a:endParaRPr lang="de-D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0A232F-33F2-FCA3-4D50-07CFEDB01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DeepL Logo PNG Vector (SVG) Free Download">
            <a:hlinkClick r:id="rId3"/>
            <a:extLst>
              <a:ext uri="{FF2B5EF4-FFF2-40B4-BE49-F238E27FC236}">
                <a16:creationId xmlns:a16="http://schemas.microsoft.com/office/drawing/2014/main" id="{66D5D85D-95E1-DB7B-91E0-792D7D3FD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0"/>
            <a:ext cx="2218781" cy="221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5D1D116-6D65-0E56-899E-DB69B026B134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711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482698-EB7C-27D0-BC80-BCC914AE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0620672" y="274638"/>
            <a:ext cx="1944216" cy="13610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2E7ECD-96D5-68D5-F65D-7C9FA73067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5" y="915566"/>
            <a:ext cx="5837784" cy="3096344"/>
          </a:xfrm>
        </p:spPr>
        <p:txBody>
          <a:bodyPr/>
          <a:lstStyle/>
          <a:p>
            <a:r>
              <a:rPr lang="de-DE" dirty="0"/>
              <a:t>LLM, basierend auf einer Transformer Architektur  </a:t>
            </a:r>
          </a:p>
          <a:p>
            <a:endParaRPr lang="de-DE" dirty="0"/>
          </a:p>
          <a:p>
            <a:r>
              <a:rPr lang="en-US" dirty="0" err="1"/>
              <a:t>Paraphrasieren</a:t>
            </a:r>
            <a:r>
              <a:rPr lang="de-DE" dirty="0"/>
              <a:t>, Grammatikprüfung, Plagiatsprüfung,  </a:t>
            </a:r>
          </a:p>
          <a:p>
            <a:pPr marL="217884" indent="0">
              <a:buNone/>
            </a:pPr>
            <a:endParaRPr lang="de-DE" dirty="0"/>
          </a:p>
          <a:p>
            <a:r>
              <a:rPr lang="de-DE" dirty="0"/>
              <a:t>Integration in bekannte TOOLS</a:t>
            </a:r>
          </a:p>
          <a:p>
            <a:pPr marL="217884" indent="0">
              <a:buNone/>
            </a:pPr>
            <a:endParaRPr lang="de-DE" dirty="0"/>
          </a:p>
          <a:p>
            <a:r>
              <a:rPr lang="de-DE" dirty="0"/>
              <a:t>Kostenlose Version, Premium Version</a:t>
            </a:r>
          </a:p>
          <a:p>
            <a:endParaRPr lang="de-DE" dirty="0"/>
          </a:p>
          <a:p>
            <a:r>
              <a:rPr lang="de-DE" dirty="0"/>
              <a:t>Daten werden nicht gespeichert oder für Trainingszwecke  genutzt (pro </a:t>
            </a:r>
            <a:r>
              <a:rPr lang="de-DE" dirty="0" err="1"/>
              <a:t>version</a:t>
            </a:r>
            <a:r>
              <a:rPr lang="de-DE" dirty="0"/>
              <a:t>) [Q3]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2C0F4E-FCF9-6152-969F-0D0A278FD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hlinkClick r:id="rId3"/>
            <a:extLst>
              <a:ext uri="{FF2B5EF4-FFF2-40B4-BE49-F238E27FC236}">
                <a16:creationId xmlns:a16="http://schemas.microsoft.com/office/drawing/2014/main" id="{0244E802-EECD-3D40-1832-AC37F212B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560553"/>
            <a:ext cx="2592287" cy="92516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CE42ADC-0398-0FA9-FEEA-646CCC61A5CB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6767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666FE5-5360-EAAC-A735-3C7BA331D1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3" y="987574"/>
            <a:ext cx="5904655" cy="3276943"/>
          </a:xfrm>
        </p:spPr>
        <p:txBody>
          <a:bodyPr/>
          <a:lstStyle/>
          <a:p>
            <a:r>
              <a:rPr lang="de-DE" dirty="0"/>
              <a:t>LLM mit einer Transformer Architektur , </a:t>
            </a:r>
          </a:p>
          <a:p>
            <a:endParaRPr lang="de-DE" dirty="0"/>
          </a:p>
          <a:p>
            <a:r>
              <a:rPr lang="de-DE" dirty="0"/>
              <a:t>Vielfältige Einsatzmöglichkeiten über Übersetzungen hinaus</a:t>
            </a:r>
            <a:endParaRPr lang="en-US" dirty="0"/>
          </a:p>
          <a:p>
            <a:pPr marL="217884" indent="0">
              <a:buNone/>
            </a:pPr>
            <a:endParaRPr lang="en-US" dirty="0"/>
          </a:p>
          <a:p>
            <a:r>
              <a:rPr lang="de-DE" dirty="0"/>
              <a:t>Nutzt </a:t>
            </a:r>
            <a:r>
              <a:rPr lang="de-DE" b="1" dirty="0"/>
              <a:t>Retrieval-</a:t>
            </a:r>
            <a:r>
              <a:rPr lang="de-DE" b="1" dirty="0" err="1"/>
              <a:t>Augmented</a:t>
            </a:r>
            <a:r>
              <a:rPr lang="de-DE" b="1" dirty="0"/>
              <a:t> Generation (RAG)</a:t>
            </a:r>
            <a:r>
              <a:rPr lang="de-DE" dirty="0"/>
              <a:t>: </a:t>
            </a:r>
          </a:p>
          <a:p>
            <a:r>
              <a:rPr lang="de-DE" dirty="0"/>
              <a:t>Transparenz und Quellenangaben per Default </a:t>
            </a:r>
          </a:p>
          <a:p>
            <a:endParaRPr lang="de-DE" dirty="0">
              <a:hlinkClick r:id="rId3"/>
            </a:endParaRPr>
          </a:p>
          <a:p>
            <a:r>
              <a:rPr lang="en-US" dirty="0"/>
              <a:t>Datenschutz </a:t>
            </a:r>
          </a:p>
          <a:p>
            <a:pPr marL="217884" indent="0">
              <a:buNone/>
            </a:pPr>
            <a:r>
              <a:rPr lang="en-US" sz="1400" dirty="0"/>
              <a:t>       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 err="1"/>
              <a:t>Steuerung</a:t>
            </a:r>
            <a:r>
              <a:rPr lang="en-US" sz="1400" dirty="0"/>
              <a:t> </a:t>
            </a:r>
            <a:r>
              <a:rPr lang="en-US" sz="1400" dirty="0" err="1"/>
              <a:t>durch</a:t>
            </a:r>
            <a:r>
              <a:rPr lang="en-US" sz="1400" dirty="0"/>
              <a:t> den </a:t>
            </a:r>
            <a:r>
              <a:rPr lang="en-US" sz="1400" dirty="0" err="1"/>
              <a:t>Nutzer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     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Bereiststellung</a:t>
            </a:r>
            <a:r>
              <a:rPr 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einer</a:t>
            </a:r>
            <a:r>
              <a:rPr 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API</a:t>
            </a:r>
            <a:endParaRPr lang="de-DE" sz="14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85C679-1D39-BA4F-D2FB-B57001436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hlinkClick r:id="rId3"/>
            <a:extLst>
              <a:ext uri="{FF2B5EF4-FFF2-40B4-BE49-F238E27FC236}">
                <a16:creationId xmlns:a16="http://schemas.microsoft.com/office/drawing/2014/main" id="{BB2D0B27-854D-6AF5-828D-5E89449D5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491" y="483518"/>
            <a:ext cx="3168352" cy="88734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08259737-D7EB-3AAB-9236-C95CC775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052719" y="1419621"/>
            <a:ext cx="1394866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075B3E9-B18C-1EDC-5E6B-F09345FF06AE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9138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CFD1-FD1D-CBC4-2669-2DE48081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3A7E2-EB97-A458-59D2-952E5B77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28650" y="-740618"/>
            <a:ext cx="4879454" cy="432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CA08BC-1A5A-4809-CE8F-14DF59A852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F3821E-D7B3-4D50-CF9C-8DB85D67A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D2D235-A749-C6C3-AFA2-6DB37F566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562" y="649959"/>
            <a:ext cx="5980876" cy="301599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9669566-3E03-DA23-0759-235E54B85396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4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B617D-EB3A-FCF3-BD2D-F992D5A4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46E274-90A2-45C2-6C3B-28B580D3E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5" y="915566"/>
            <a:ext cx="5693768" cy="3096344"/>
          </a:xfrm>
        </p:spPr>
        <p:txBody>
          <a:bodyPr/>
          <a:lstStyle/>
          <a:p>
            <a:r>
              <a:rPr lang="de-DE" dirty="0"/>
              <a:t>LLM , expliziert trainiert auf akademisches Schreiben </a:t>
            </a:r>
          </a:p>
          <a:p>
            <a:endParaRPr lang="de-DE" dirty="0"/>
          </a:p>
          <a:p>
            <a:r>
              <a:rPr lang="de-DE" dirty="0"/>
              <a:t>Paraphrasierung, Zitieren und Quellenverwaltung</a:t>
            </a:r>
          </a:p>
          <a:p>
            <a:endParaRPr lang="de-DE" dirty="0"/>
          </a:p>
          <a:p>
            <a:r>
              <a:rPr lang="de-DE" dirty="0"/>
              <a:t>Datenschutz</a:t>
            </a:r>
          </a:p>
          <a:p>
            <a:pPr marL="217884" indent="0">
              <a:buNone/>
            </a:pPr>
            <a:r>
              <a:rPr lang="de-DE" dirty="0"/>
              <a:t>           </a:t>
            </a:r>
            <a:r>
              <a:rPr lang="de-DE" dirty="0">
                <a:sym typeface="Wingdings" panose="05000000000000000000" pitchFamily="2" charset="2"/>
              </a:rPr>
              <a:t> kein Speichern und Weitertrainieren [Q4]</a:t>
            </a:r>
          </a:p>
          <a:p>
            <a:pPr marL="217884" indent="0">
              <a:buNone/>
            </a:pPr>
            <a:r>
              <a:rPr lang="de-DE" dirty="0">
                <a:sym typeface="Wingdings" panose="05000000000000000000" pitchFamily="2" charset="2"/>
              </a:rPr>
              <a:t>            Verschlüsselte Datenübertragung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Kostenlose Version, Premium Version  </a:t>
            </a:r>
          </a:p>
          <a:p>
            <a:pPr marL="217884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Qualität ist stark abhängig von der jeweiligen Version 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pPr marL="217884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EDB68D-D7B9-9889-7D3D-05397C1F4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4572000" y="4310235"/>
            <a:ext cx="3943349" cy="5586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Grafik 4">
            <a:hlinkClick r:id="rId3"/>
            <a:extLst>
              <a:ext uri="{FF2B5EF4-FFF2-40B4-BE49-F238E27FC236}">
                <a16:creationId xmlns:a16="http://schemas.microsoft.com/office/drawing/2014/main" id="{C1A2F6E7-8631-84CD-8673-45EBBE5F2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3" y="428860"/>
            <a:ext cx="2723469" cy="113477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36DA2A9-7A33-784A-F2DE-591D568079DC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8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711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enplatzhalter 4">
            <a:extLst>
              <a:ext uri="{FF2B5EF4-FFF2-40B4-BE49-F238E27FC236}">
                <a16:creationId xmlns:a16="http://schemas.microsoft.com/office/drawing/2014/main" id="{4EB151B4-81E5-39B5-D330-8687D16C0D63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322770807"/>
              </p:ext>
            </p:extLst>
          </p:nvPr>
        </p:nvGraphicFramePr>
        <p:xfrm>
          <a:off x="179512" y="501234"/>
          <a:ext cx="8784976" cy="30786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444961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327551457"/>
                    </a:ext>
                  </a:extLst>
                </a:gridCol>
                <a:gridCol w="1051636">
                  <a:extLst>
                    <a:ext uri="{9D8B030D-6E8A-4147-A177-3AD203B41FA5}">
                      <a16:colId xmlns:a16="http://schemas.microsoft.com/office/drawing/2014/main" val="3125858349"/>
                    </a:ext>
                  </a:extLst>
                </a:gridCol>
                <a:gridCol w="748564">
                  <a:extLst>
                    <a:ext uri="{9D8B030D-6E8A-4147-A177-3AD203B41FA5}">
                      <a16:colId xmlns:a16="http://schemas.microsoft.com/office/drawing/2014/main" val="4223613978"/>
                    </a:ext>
                  </a:extLst>
                </a:gridCol>
                <a:gridCol w="1109136">
                  <a:extLst>
                    <a:ext uri="{9D8B030D-6E8A-4147-A177-3AD203B41FA5}">
                      <a16:colId xmlns:a16="http://schemas.microsoft.com/office/drawing/2014/main" val="957946173"/>
                    </a:ext>
                  </a:extLst>
                </a:gridCol>
                <a:gridCol w="763072">
                  <a:extLst>
                    <a:ext uri="{9D8B030D-6E8A-4147-A177-3AD203B41FA5}">
                      <a16:colId xmlns:a16="http://schemas.microsoft.com/office/drawing/2014/main" val="1753784489"/>
                    </a:ext>
                  </a:extLst>
                </a:gridCol>
                <a:gridCol w="1094628">
                  <a:extLst>
                    <a:ext uri="{9D8B030D-6E8A-4147-A177-3AD203B41FA5}">
                      <a16:colId xmlns:a16="http://schemas.microsoft.com/office/drawing/2014/main" val="1467840255"/>
                    </a:ext>
                  </a:extLst>
                </a:gridCol>
                <a:gridCol w="705572">
                  <a:extLst>
                    <a:ext uri="{9D8B030D-6E8A-4147-A177-3AD203B41FA5}">
                      <a16:colId xmlns:a16="http://schemas.microsoft.com/office/drawing/2014/main" val="3229032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736688546"/>
                    </a:ext>
                  </a:extLst>
                </a:gridCol>
              </a:tblGrid>
              <a:tr h="4725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DeepL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Quillbot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Perplexity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Jenny AI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730649"/>
                  </a:ext>
                </a:extLst>
              </a:tr>
              <a:tr h="4725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Basis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Premium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Basis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Premium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Basis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Premium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Basis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Premium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733775"/>
                  </a:ext>
                </a:extLst>
              </a:tr>
              <a:tr h="479556">
                <a:tc>
                  <a:txBody>
                    <a:bodyPr/>
                    <a:lstStyle/>
                    <a:p>
                      <a:r>
                        <a:rPr lang="de-DE" b="1" dirty="0"/>
                        <a:t>Kosten (je Monat)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7.49 € - 49.99 €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8,33 €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20,00 € - 200.00 €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12.00 €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465620"/>
                  </a:ext>
                </a:extLst>
              </a:tr>
              <a:tr h="472514">
                <a:tc>
                  <a:txBody>
                    <a:bodyPr/>
                    <a:lstStyle/>
                    <a:p>
                      <a:r>
                        <a:rPr lang="de-DE" b="1" dirty="0"/>
                        <a:t>Keine Verwendung für Trainingszwecke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✅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✅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✅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✅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❌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✅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473060"/>
                  </a:ext>
                </a:extLst>
              </a:tr>
              <a:tr h="472514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/>
                        <a:t>API</a:t>
                      </a:r>
                      <a:endParaRPr lang="en-US" b="1" dirty="0"/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❌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✅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❌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✅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✅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✅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❌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✅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497090"/>
                  </a:ext>
                </a:extLst>
              </a:tr>
            </a:tbl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1A87A4-FDC8-AD7D-69BD-8955F4D16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E49CB82-F117-FD00-C9EC-C35111B6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608" y="12317"/>
            <a:ext cx="7886700" cy="491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B1DCD6D-4781-873D-2039-340E002C1ED0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9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2694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50E45F-568F-E279-A303-AF985B3EB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10548663" y="915566"/>
            <a:ext cx="2952328" cy="26642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6C5A60-3906-C86E-C64E-8C8C3D626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6153C5E-9A23-1EE0-829E-23F0BA32527D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10</a:t>
            </a:r>
            <a:endParaRPr lang="en-US" sz="11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124413E-23F5-41E0-12C8-6AD4A65CD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26" y="194931"/>
            <a:ext cx="696374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9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41D2A1-C7A5-F697-DF63-AAFC0364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 - Daten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AFC95F-012F-5471-2CA7-0184BD45D2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sz="1400" dirty="0"/>
              <a:t>Es wurde untersucht, wie Leute auf bestimmte Situationen reagieren. Die Reaktionen waren jedoch nicht bei allen gleich.</a:t>
            </a:r>
          </a:p>
          <a:p>
            <a:endParaRPr lang="de-DE" sz="1400" dirty="0"/>
          </a:p>
          <a:p>
            <a:r>
              <a:rPr lang="de-DE" sz="1400" dirty="0"/>
              <a:t>Die Studie zeigt dass die meisten Teilnehmer das Thema schon kannten, was vielleicht ein bisschen das Ergebnis beeinflusst. </a:t>
            </a:r>
          </a:p>
          <a:p>
            <a:endParaRPr lang="de-DE" sz="1400" dirty="0"/>
          </a:p>
          <a:p>
            <a:r>
              <a:rPr lang="de-DE" sz="1400" dirty="0"/>
              <a:t>Man sieht, dass sich in den letzten Jahren viel verändert hat, aber man weiß nicht genau, ob positiv oder negativ ist. </a:t>
            </a:r>
          </a:p>
          <a:p>
            <a:endParaRPr lang="de-DE" sz="1400" dirty="0"/>
          </a:p>
          <a:p>
            <a:r>
              <a:rPr lang="de-DE" sz="1400" dirty="0"/>
              <a:t>Obwohl die Stichprobe klein war, lassen sich erste Tendenzen erkennen.</a:t>
            </a:r>
          </a:p>
          <a:p>
            <a:pPr marL="217884" indent="0">
              <a:buNone/>
            </a:pPr>
            <a:endParaRPr lang="de-DE" sz="1400" dirty="0"/>
          </a:p>
          <a:p>
            <a:r>
              <a:rPr lang="de-DE" sz="1400" dirty="0"/>
              <a:t>„Es bleibt jedoch  unklar, ob die beobachteten Effekte langfristig bestehen.“</a:t>
            </a:r>
            <a:endParaRPr lang="en-US" sz="1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D120F7-164C-DC90-4ED9-4DBAEF82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B99B8B-FF45-F3BC-38D0-3B88645A0EE9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1990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6162E-BB2A-689A-5B17-FECC8A69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 - Ergebnisse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0818FF-767F-9C43-243A-06DE9E2439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11772799" y="915566"/>
            <a:ext cx="216024" cy="3096344"/>
          </a:xfrm>
        </p:spPr>
        <p:txBody>
          <a:bodyPr/>
          <a:lstStyle/>
          <a:p>
            <a:pPr marL="217884" indent="0">
              <a:buNone/>
            </a:pPr>
            <a:endParaRPr lang="en-US" sz="12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CE15B7-F371-A39F-E390-8DCB92C1E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0751" y="4083918"/>
            <a:ext cx="2880320" cy="49180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27F3BFC-3EB1-B579-73DF-E7DDAF73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27040"/>
            <a:ext cx="3280827" cy="266429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B401304-1E00-42CE-BD2A-FEFBBFFAC2A1}"/>
              </a:ext>
            </a:extLst>
          </p:cNvPr>
          <p:cNvSpPr txBox="1"/>
          <p:nvPr/>
        </p:nvSpPr>
        <p:spPr>
          <a:xfrm>
            <a:off x="395536" y="3825243"/>
            <a:ext cx="1207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DeepL</a:t>
            </a:r>
            <a:endParaRPr lang="en-US" b="1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ADE71AB-4FBD-3163-DC16-7F86C03B1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869" y="1001058"/>
            <a:ext cx="4766187" cy="1714708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7B6C562-E98B-42C6-742F-D471692BD74B}"/>
              </a:ext>
            </a:extLst>
          </p:cNvPr>
          <p:cNvSpPr txBox="1"/>
          <p:nvPr/>
        </p:nvSpPr>
        <p:spPr>
          <a:xfrm>
            <a:off x="4846933" y="3837456"/>
            <a:ext cx="1957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Quillbot</a:t>
            </a:r>
            <a:endParaRPr lang="en-US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2DCEA28-E781-5F59-3A89-0D82F5354135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2165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35AD-1505-CF6D-0902-E431EA5C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A34F6-478E-BAD7-D3C5-B50F97C6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 - Ergebnisse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6BE36C-889E-70AF-1E81-D315962B3F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11772799" y="915566"/>
            <a:ext cx="216024" cy="3096344"/>
          </a:xfrm>
        </p:spPr>
        <p:txBody>
          <a:bodyPr/>
          <a:lstStyle/>
          <a:p>
            <a:pPr marL="217884" indent="0">
              <a:buNone/>
            </a:pPr>
            <a:endParaRPr lang="en-US" sz="12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F302F6-D47E-01C6-58B4-E1F858146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0751" y="4083918"/>
            <a:ext cx="2880320" cy="491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ADCE14A-84AA-4656-3D14-4D85E35CF1A8}"/>
              </a:ext>
            </a:extLst>
          </p:cNvPr>
          <p:cNvSpPr txBox="1"/>
          <p:nvPr/>
        </p:nvSpPr>
        <p:spPr>
          <a:xfrm>
            <a:off x="354274" y="3837456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Perplexity</a:t>
            </a:r>
            <a:endParaRPr lang="en-US" b="1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0A4E560-B54F-CD31-DCC1-EB667B96BD91}"/>
              </a:ext>
            </a:extLst>
          </p:cNvPr>
          <p:cNvSpPr txBox="1"/>
          <p:nvPr/>
        </p:nvSpPr>
        <p:spPr>
          <a:xfrm>
            <a:off x="4846933" y="3837456"/>
            <a:ext cx="1957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Jenni AI</a:t>
            </a:r>
            <a:endParaRPr lang="en-US" b="1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CACA53A-9175-4136-1042-733E8521F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0" y="1714395"/>
            <a:ext cx="4192642" cy="17147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36F75F8-AC1C-5F31-3696-3FD872330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328" y="1714395"/>
            <a:ext cx="4499359" cy="171470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04D0F2E-F7F7-9CD9-0B90-9AFD285014C8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1201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0E7DF-2650-E42F-56D2-B8F8BFCB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Stichproben – Ergebnisse (DeepL)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188BB7-8F1C-A133-3CE6-A8FEF395C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17884" indent="0">
              <a:buNone/>
            </a:pPr>
            <a:r>
              <a:rPr lang="de-DE" sz="1400" dirty="0"/>
              <a:t>„</a:t>
            </a:r>
            <a:endParaRPr lang="en-US" sz="1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2DED72-3499-6836-12E9-C1967D91F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F01E395-D659-3281-618D-4CA9D3180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913828"/>
            <a:ext cx="4588338" cy="326578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727B29B-0231-329B-3E86-BF2C5366AB9B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4795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B4F3-1488-A9D8-2C5A-23545565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5307D-EA89-406A-D033-7772BC0A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Stichproben – Ergebnisse (</a:t>
            </a:r>
            <a:r>
              <a:rPr lang="de-DE" dirty="0" err="1"/>
              <a:t>QuillBot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15B84D-D0B7-9369-272C-F007B0A322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17884" indent="0">
              <a:buNone/>
            </a:pPr>
            <a:r>
              <a:rPr lang="de-DE" sz="1400" dirty="0"/>
              <a:t>„</a:t>
            </a:r>
            <a:endParaRPr lang="en-US" sz="1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FE681B-1120-2741-4EF0-9885AA30B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CF12656-AB0B-2E5B-5902-31B33D67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5" y="1115099"/>
            <a:ext cx="7786069" cy="300967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B0B5FD8-7F0E-F2EE-A910-E87AE427DAC0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8139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152C-EC44-4A44-BA0C-22335B7B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304B5-C5FA-8B12-D1F5-87CED4D8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Stichproben – Ergebnisse (</a:t>
            </a:r>
            <a:r>
              <a:rPr lang="de-DE" dirty="0" err="1"/>
              <a:t>Perplexity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2F9A8F-5DAA-FE1F-9E6C-14D74DAE84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17884" indent="0">
              <a:buNone/>
            </a:pPr>
            <a:r>
              <a:rPr lang="de-DE" sz="1400" dirty="0"/>
              <a:t>„</a:t>
            </a:r>
            <a:endParaRPr lang="en-US" sz="1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6D569A-8081-45FD-ADC3-D298DFC4D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22B7F3-D5F0-7457-BA0E-DD896087E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900345"/>
            <a:ext cx="8244408" cy="339049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C2FFCF9-DABA-4078-96A0-1F0160B285A7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95918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AA88-6A8F-B737-149D-EEBD8E99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3E0A79-8EA0-6E83-E6F1-26229EB1D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F4BB35-1E29-5CE1-CD02-284014F0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</p:spPr>
        <p:txBody>
          <a:bodyPr anchor="b">
            <a:normAutofit/>
          </a:bodyPr>
          <a:lstStyle/>
          <a:p>
            <a:r>
              <a:rPr lang="de-DE" dirty="0"/>
              <a:t>Gliederung </a:t>
            </a:r>
            <a:endParaRPr lang="en-US" dirty="0"/>
          </a:p>
        </p:txBody>
      </p:sp>
      <p:graphicFrame>
        <p:nvGraphicFramePr>
          <p:cNvPr id="6" name="Textplatzhalter 2">
            <a:extLst>
              <a:ext uri="{FF2B5EF4-FFF2-40B4-BE49-F238E27FC236}">
                <a16:creationId xmlns:a16="http://schemas.microsoft.com/office/drawing/2014/main" id="{850D65AC-64B6-DAC0-A6BD-ED94DD945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134818"/>
              </p:ext>
            </p:extLst>
          </p:nvPr>
        </p:nvGraphicFramePr>
        <p:xfrm>
          <a:off x="604840" y="857251"/>
          <a:ext cx="7932737" cy="3154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4CF24BCA-6D70-5634-7FCA-742EBEE22337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9262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E140FA-AC77-A619-0B2D-514D7CDC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88E49D-D99D-018D-FE8B-EB8B06097F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A8D9C8-4E95-D6CB-9DEC-2A4361BC9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DCCD929-9557-D2D8-1369-5304D523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015820"/>
            <a:ext cx="4572326" cy="206809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7AE9A10-E812-CD1D-2059-4FC71FFB9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56012"/>
            <a:ext cx="4348299" cy="165980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33DE3DD-3625-6255-726B-4CD6C6A29058}"/>
              </a:ext>
            </a:extLst>
          </p:cNvPr>
          <p:cNvSpPr txBox="1"/>
          <p:nvPr/>
        </p:nvSpPr>
        <p:spPr>
          <a:xfrm>
            <a:off x="827584" y="2186289"/>
            <a:ext cx="770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[Q8]</a:t>
            </a:r>
            <a:endParaRPr lang="en-US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BB5758-D8B1-FE38-8A64-0DC13543DA85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18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6813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F8BF-8A50-8AFE-CF66-73D8F49B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7B8CC0-7433-D181-ED56-8A98FDF9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-2124744" y="123478"/>
            <a:ext cx="216024" cy="15116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1A23D-6BD1-0D0B-95B2-219C7BE9A4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33946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7BB1BF-0940-AFE3-B956-EAB587E3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E8C1BA1-04AD-51AF-AAEB-15848DD8F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" y="1366480"/>
            <a:ext cx="4283968" cy="24928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3857079-8D34-F2DE-9987-A4F969BFB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886" y="1443539"/>
            <a:ext cx="4609192" cy="241578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1991B0A-7B62-B316-2AB7-77B22788D58A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19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0195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42F05D-2172-5A9B-75EF-5B7E9890D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C96D65-C952-3915-45BF-1CBBC28C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Tabellenplatzhalter 8">
            <a:extLst>
              <a:ext uri="{FF2B5EF4-FFF2-40B4-BE49-F238E27FC236}">
                <a16:creationId xmlns:a16="http://schemas.microsoft.com/office/drawing/2014/main" id="{A61293E6-B098-7D68-9164-452B0AB9BE7D}"/>
              </a:ext>
            </a:extLst>
          </p:cNvPr>
          <p:cNvPicPr>
            <a:picLocks noGrp="1" noChangeAspect="1"/>
          </p:cNvPicPr>
          <p:nvPr>
            <p:ph type="tbl" sz="quarter" idx="10"/>
          </p:nvPr>
        </p:nvPicPr>
        <p:blipFill>
          <a:blip r:embed="rId3"/>
          <a:stretch>
            <a:fillRect/>
          </a:stretch>
        </p:blipFill>
        <p:spPr>
          <a:xfrm>
            <a:off x="316514" y="1336095"/>
            <a:ext cx="3900092" cy="1748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93D1547-277D-788C-4A0B-CBBC4DB49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468" y="1063765"/>
            <a:ext cx="3646637" cy="244827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54227A0-F1D1-40AE-AD63-4EDC93F99B69}"/>
              </a:ext>
            </a:extLst>
          </p:cNvPr>
          <p:cNvSpPr txBox="1"/>
          <p:nvPr/>
        </p:nvSpPr>
        <p:spPr>
          <a:xfrm>
            <a:off x="467544" y="3275075"/>
            <a:ext cx="1063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[Q6]</a:t>
            </a:r>
            <a:endParaRPr lang="en-US" sz="12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85BB9BD-5F08-502D-36EE-616A696F01E1}"/>
              </a:ext>
            </a:extLst>
          </p:cNvPr>
          <p:cNvSpPr txBox="1"/>
          <p:nvPr/>
        </p:nvSpPr>
        <p:spPr>
          <a:xfrm>
            <a:off x="7144918" y="3427475"/>
            <a:ext cx="1063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[Q7]</a:t>
            </a:r>
            <a:endParaRPr lang="en-US" sz="12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79C45D7-B694-EC66-74C7-F1E66A4E9F38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9902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9EE0-3F8A-5229-437B-ED1C8CB3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9217749-C626-4717-FA65-B4B22134E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84C36B-7EE2-C692-15DD-4C17E317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</p:spPr>
        <p:txBody>
          <a:bodyPr anchor="b">
            <a:normAutofit/>
          </a:bodyPr>
          <a:lstStyle/>
          <a:p>
            <a:r>
              <a:rPr lang="de-DE" dirty="0"/>
              <a:t>Gliederung </a:t>
            </a:r>
            <a:endParaRPr lang="en-US" dirty="0"/>
          </a:p>
        </p:txBody>
      </p:sp>
      <p:graphicFrame>
        <p:nvGraphicFramePr>
          <p:cNvPr id="6" name="Textplatzhalter 2">
            <a:extLst>
              <a:ext uri="{FF2B5EF4-FFF2-40B4-BE49-F238E27FC236}">
                <a16:creationId xmlns:a16="http://schemas.microsoft.com/office/drawing/2014/main" id="{D3D0A1CC-1B32-6FC2-1B9A-284321149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40211"/>
              </p:ext>
            </p:extLst>
          </p:nvPr>
        </p:nvGraphicFramePr>
        <p:xfrm>
          <a:off x="604840" y="857251"/>
          <a:ext cx="7932737" cy="3154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56E03AA8-AFDB-E20D-AD10-76DCAAC4B3EE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04818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079C42D-0E27-B2CD-7007-B53B7815672B}"/>
              </a:ext>
            </a:extLst>
          </p:cNvPr>
          <p:cNvSpPr/>
          <p:nvPr/>
        </p:nvSpPr>
        <p:spPr bwMode="auto">
          <a:xfrm>
            <a:off x="755576" y="1203598"/>
            <a:ext cx="2808312" cy="1656184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 cap="flat" cmpd="sng" algn="ctr">
            <a:solidFill>
              <a:schemeClr val="accent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1A77B2-9E44-7710-C0DF-20F0BE844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94F999-EA81-96EE-C671-FB4BB8EF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Plagiat oder Eigenleistung</a:t>
            </a:r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3C94AC6-9C8B-3E02-D477-F0CACEB3CD5B}"/>
              </a:ext>
            </a:extLst>
          </p:cNvPr>
          <p:cNvSpPr txBox="1"/>
          <p:nvPr/>
        </p:nvSpPr>
        <p:spPr>
          <a:xfrm>
            <a:off x="755576" y="1203598"/>
            <a:ext cx="2520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“A broad consensus appears among publishers that human authorship remains paramount and that the use of GenAI tools is permissible but must be disclosed.”   [Q5]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5F36CAC-BAC6-AF4A-35BF-7378B3FC0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059582"/>
            <a:ext cx="3822079" cy="192737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9C623BA-45A6-5352-653D-9FDD8042BBA2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59188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91B2-AEF8-B224-BD36-3FC8930F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992244-9BAB-1CAB-DF9C-54825EEC1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7CF98D-A658-B73D-ACFF-5DED23DC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</p:spPr>
        <p:txBody>
          <a:bodyPr anchor="b">
            <a:normAutofit/>
          </a:bodyPr>
          <a:lstStyle/>
          <a:p>
            <a:r>
              <a:rPr lang="de-DE" dirty="0"/>
              <a:t>Gliederung </a:t>
            </a:r>
            <a:endParaRPr lang="en-US" dirty="0"/>
          </a:p>
        </p:txBody>
      </p:sp>
      <p:graphicFrame>
        <p:nvGraphicFramePr>
          <p:cNvPr id="6" name="Textplatzhalter 2">
            <a:extLst>
              <a:ext uri="{FF2B5EF4-FFF2-40B4-BE49-F238E27FC236}">
                <a16:creationId xmlns:a16="http://schemas.microsoft.com/office/drawing/2014/main" id="{54C489D2-A6A0-58F0-9201-714A292265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233479"/>
              </p:ext>
            </p:extLst>
          </p:nvPr>
        </p:nvGraphicFramePr>
        <p:xfrm>
          <a:off x="604840" y="857251"/>
          <a:ext cx="7932737" cy="3154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6F5448A2-E114-8D8E-76D1-404BC1CEE06B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6312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C03A6-FAB4-A21D-E546-32F0897E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persönliche Präferenzen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C7E6CA-CD0D-081F-E88A-126022585D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sz="2400" dirty="0"/>
              <a:t>DEEPL !</a:t>
            </a:r>
          </a:p>
          <a:p>
            <a:pPr marL="217884" indent="0">
              <a:buNone/>
            </a:pPr>
            <a:endParaRPr lang="de-DE" sz="1800" dirty="0"/>
          </a:p>
          <a:p>
            <a:pPr marL="217884" indent="0">
              <a:buNone/>
            </a:pPr>
            <a:r>
              <a:rPr lang="de-DE" dirty="0">
                <a:sym typeface="Wingdings" panose="05000000000000000000" pitchFamily="2" charset="2"/>
              </a:rPr>
              <a:t>    sehr gute Erfahrungen mit gesammelt</a:t>
            </a:r>
          </a:p>
          <a:p>
            <a:pPr marL="217884" indent="0">
              <a:buNone/>
            </a:pPr>
            <a:r>
              <a:rPr lang="de-DE" dirty="0">
                <a:sym typeface="Wingdings" panose="05000000000000000000" pitchFamily="2" charset="2"/>
              </a:rPr>
              <a:t>    garantierter Eigenanteil</a:t>
            </a:r>
          </a:p>
          <a:p>
            <a:pPr marL="217884" indent="0">
              <a:buNone/>
            </a:pPr>
            <a:r>
              <a:rPr lang="de-DE" dirty="0">
                <a:sym typeface="Wingdings" panose="05000000000000000000" pitchFamily="2" charset="2"/>
              </a:rPr>
              <a:t>    Funktionen ausreichend in der Basis-Version vorhanden</a:t>
            </a:r>
          </a:p>
          <a:p>
            <a:pPr marL="217884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217884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217884" indent="0">
              <a:buNone/>
            </a:pPr>
            <a:r>
              <a:rPr lang="de-DE" dirty="0">
                <a:sym typeface="Wingdings" panose="05000000000000000000" pitchFamily="2" charset="2"/>
              </a:rPr>
              <a:t>    für Zitieren: Jenni AI, </a:t>
            </a:r>
            <a:r>
              <a:rPr lang="de-DE" dirty="0" err="1">
                <a:sym typeface="Wingdings" panose="05000000000000000000" pitchFamily="2" charset="2"/>
              </a:rPr>
              <a:t>Zotoro</a:t>
            </a:r>
            <a:endParaRPr lang="de-DE" dirty="0">
              <a:sym typeface="Wingdings" panose="05000000000000000000" pitchFamily="2" charset="2"/>
            </a:endParaRPr>
          </a:p>
          <a:p>
            <a:pPr marL="217884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       </a:t>
            </a:r>
            <a:endParaRPr lang="de-DE" sz="1800" dirty="0"/>
          </a:p>
          <a:p>
            <a:endParaRPr lang="en-US" sz="28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A75A95-E50A-8B7D-6E33-D10F564CA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4633A5-2D96-96A8-7942-3A9AA31357F8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3312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DC0FF-D4F1-140E-31C6-D6BD2AD2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D1431F-B196-B8B9-8CAC-50386BA10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3168352"/>
          </a:xfrm>
        </p:spPr>
        <p:txBody>
          <a:bodyPr/>
          <a:lstStyle/>
          <a:p>
            <a:r>
              <a:rPr lang="de-DE" sz="1200" dirty="0"/>
              <a:t>Q1: </a:t>
            </a:r>
            <a:r>
              <a:rPr lang="de-DE" sz="1200" b="1" dirty="0"/>
              <a:t>DeepL</a:t>
            </a:r>
            <a:r>
              <a:rPr lang="de-DE" sz="1200" dirty="0"/>
              <a:t>   </a:t>
            </a:r>
            <a:r>
              <a:rPr lang="de-DE" sz="1200" dirty="0" err="1"/>
              <a:t>DeepL</a:t>
            </a:r>
            <a:r>
              <a:rPr lang="de-DE" sz="1200" dirty="0"/>
              <a:t> Pro Schnelle, präzise und sichere Übersetzungen </a:t>
            </a:r>
            <a:br>
              <a:rPr lang="de-DE" sz="1200" dirty="0"/>
            </a:br>
            <a:r>
              <a:rPr lang="de-DE" sz="1000" dirty="0">
                <a:hlinkClick r:id="rId2"/>
              </a:rPr>
              <a:t>https://www.deepl.com/de/pro</a:t>
            </a:r>
            <a:r>
              <a:rPr lang="de-DE" sz="1000" dirty="0"/>
              <a:t>  (letzter Zugriff: 2.11.2025, 19:00)</a:t>
            </a:r>
          </a:p>
          <a:p>
            <a:endParaRPr lang="de-DE" sz="1000" dirty="0"/>
          </a:p>
          <a:p>
            <a:r>
              <a:rPr lang="de-DE" sz="1200" dirty="0"/>
              <a:t>Q2:  </a:t>
            </a:r>
            <a:r>
              <a:rPr lang="de-DE" sz="1200" b="1" dirty="0"/>
              <a:t>DeepL</a:t>
            </a:r>
            <a:r>
              <a:rPr lang="de-DE" sz="1200" dirty="0"/>
              <a:t> </a:t>
            </a:r>
            <a:r>
              <a:rPr lang="en-US" sz="1200" dirty="0" err="1"/>
              <a:t>Datenschutzerklärung</a:t>
            </a:r>
            <a:r>
              <a:rPr lang="en-US" sz="1200" dirty="0"/>
              <a:t> </a:t>
            </a:r>
            <a:r>
              <a:rPr lang="en-US" sz="1200" dirty="0" err="1"/>
              <a:t>DeepL</a:t>
            </a:r>
            <a:r>
              <a:rPr lang="en-US" sz="1200" dirty="0"/>
              <a:t> </a:t>
            </a:r>
            <a:br>
              <a:rPr lang="en-US" sz="1200" dirty="0"/>
            </a:br>
            <a:r>
              <a:rPr lang="en-US" sz="1000" dirty="0">
                <a:hlinkClick r:id="rId3"/>
              </a:rPr>
              <a:t>https://www.deepl.com/de/privacy</a:t>
            </a:r>
            <a:r>
              <a:rPr lang="en-US" sz="1000" dirty="0"/>
              <a:t> </a:t>
            </a:r>
            <a:r>
              <a:rPr lang="de-DE" sz="1000" dirty="0"/>
              <a:t>(letzter Zugriff: 2.11.2025, 19:00)</a:t>
            </a:r>
          </a:p>
          <a:p>
            <a:pPr marL="217884" indent="0">
              <a:buNone/>
            </a:pPr>
            <a:endParaRPr lang="de-DE" sz="1000" dirty="0"/>
          </a:p>
          <a:p>
            <a:r>
              <a:rPr lang="de-DE" sz="1200" dirty="0"/>
              <a:t>Q3: </a:t>
            </a:r>
            <a:r>
              <a:rPr lang="de-DE" sz="1200" b="1" dirty="0" err="1"/>
              <a:t>QuillBot</a:t>
            </a:r>
            <a:r>
              <a:rPr lang="de-DE" sz="1200" b="1" dirty="0"/>
              <a:t> </a:t>
            </a:r>
            <a:r>
              <a:rPr lang="en-US" sz="1200" dirty="0"/>
              <a:t>Earning your trust  </a:t>
            </a:r>
            <a:br>
              <a:rPr lang="en-US" b="1" dirty="0"/>
            </a:br>
            <a:r>
              <a:rPr lang="en-US" sz="1000" dirty="0">
                <a:hlinkClick r:id="rId4"/>
              </a:rPr>
              <a:t>https://quillbot.com/trust-center</a:t>
            </a:r>
            <a:r>
              <a:rPr lang="en-US" sz="1000" dirty="0"/>
              <a:t> </a:t>
            </a:r>
            <a:r>
              <a:rPr lang="de-DE" sz="1000" dirty="0"/>
              <a:t>(letzter Zugriff: 2.11.2025, 19:10)</a:t>
            </a:r>
          </a:p>
          <a:p>
            <a:pPr marL="217884" indent="0">
              <a:buNone/>
            </a:pPr>
            <a:endParaRPr lang="de-DE" sz="1000" dirty="0"/>
          </a:p>
          <a:p>
            <a:r>
              <a:rPr lang="en-US" sz="1200" dirty="0"/>
              <a:t>Q4: </a:t>
            </a:r>
            <a:r>
              <a:rPr lang="en-US" sz="1200" b="1" dirty="0"/>
              <a:t>Jenni AI </a:t>
            </a:r>
            <a:r>
              <a:rPr lang="en-US" sz="1200" dirty="0"/>
              <a:t>Data Protection &amp; Privacy For Uploaded Papers</a:t>
            </a:r>
            <a:br>
              <a:rPr lang="en-US" sz="1200" dirty="0"/>
            </a:br>
            <a:r>
              <a:rPr lang="en-US" sz="1000" dirty="0">
                <a:hlinkClick r:id="rId5"/>
              </a:rPr>
              <a:t>https://help.jenni.ai/en/articles/11135457-data-protection-privacy-for-uploaded-papers</a:t>
            </a:r>
            <a:r>
              <a:rPr lang="en-US" sz="1000" dirty="0"/>
              <a:t>  </a:t>
            </a:r>
            <a:r>
              <a:rPr lang="de-DE" sz="1000" dirty="0"/>
              <a:t>(letzter Zugriff: 2.11.2025, 19:15)</a:t>
            </a:r>
          </a:p>
          <a:p>
            <a:pPr marL="217884" indent="0">
              <a:buNone/>
            </a:pPr>
            <a:endParaRPr lang="de-DE" sz="1000" dirty="0"/>
          </a:p>
          <a:p>
            <a:r>
              <a:rPr lang="de-DE" sz="1200" dirty="0"/>
              <a:t>Q5: </a:t>
            </a:r>
            <a:r>
              <a:rPr lang="de-DE" sz="1200" b="1" dirty="0"/>
              <a:t>Mike Perkins </a:t>
            </a:r>
            <a:r>
              <a:rPr lang="en-US" sz="1200" dirty="0"/>
              <a:t>Academic publisher guidelines on AI usage: A ChatGPT supported thematic analysis   </a:t>
            </a:r>
            <a:br>
              <a:rPr lang="en-US" sz="1200" dirty="0"/>
            </a:br>
            <a:r>
              <a:rPr lang="en-US" sz="1000" dirty="0">
                <a:hlinkClick r:id="rId6"/>
              </a:rPr>
              <a:t>https://pmc.ncbi.nlm.nih.gov/articles/PMC10844801/</a:t>
            </a:r>
            <a:r>
              <a:rPr lang="en-US" sz="1000" dirty="0"/>
              <a:t> </a:t>
            </a:r>
            <a:r>
              <a:rPr lang="de-DE" sz="1000" dirty="0"/>
              <a:t>(letzter Zugriff: 2.11.2025, 20:00)</a:t>
            </a:r>
          </a:p>
          <a:p>
            <a:endParaRPr lang="de-DE" sz="1000" dirty="0"/>
          </a:p>
          <a:p>
            <a:r>
              <a:rPr lang="de-DE" sz="1200" dirty="0"/>
              <a:t>Q6: </a:t>
            </a:r>
            <a:r>
              <a:rPr lang="en-US" sz="1200" b="1" dirty="0" err="1"/>
              <a:t>Stanfort</a:t>
            </a:r>
            <a:r>
              <a:rPr lang="en-US" sz="1200" b="1" dirty="0"/>
              <a:t> University   </a:t>
            </a:r>
            <a:r>
              <a:rPr lang="en-US" sz="1200" dirty="0"/>
              <a:t>Mapping the Increasing Use of LLMs in Scientific Papers  </a:t>
            </a:r>
            <a:br>
              <a:rPr lang="en-US" sz="1000" dirty="0"/>
            </a:br>
            <a:r>
              <a:rPr lang="en-US" sz="1000" dirty="0">
                <a:hlinkClick r:id="rId7"/>
              </a:rPr>
              <a:t>https://arxiv.org/pdf/2404.01268</a:t>
            </a:r>
            <a:r>
              <a:rPr lang="en-US" sz="1000" dirty="0"/>
              <a:t>   (</a:t>
            </a:r>
            <a:r>
              <a:rPr lang="en-US" sz="1000" dirty="0" err="1"/>
              <a:t>letzter</a:t>
            </a:r>
            <a:r>
              <a:rPr lang="en-US" sz="1000" dirty="0"/>
              <a:t> </a:t>
            </a:r>
            <a:r>
              <a:rPr lang="en-US" sz="1000" dirty="0" err="1"/>
              <a:t>Zugriff</a:t>
            </a:r>
            <a:r>
              <a:rPr lang="en-US" sz="1000" dirty="0"/>
              <a:t>: 2.11.2025, 20:10)</a:t>
            </a:r>
            <a:br>
              <a:rPr lang="en-US" sz="1000" dirty="0"/>
            </a:br>
            <a:endParaRPr lang="en-US" sz="1000" b="1" dirty="0"/>
          </a:p>
          <a:p>
            <a:endParaRPr lang="de-DE" sz="1000" dirty="0"/>
          </a:p>
          <a:p>
            <a:endParaRPr lang="de-DE" sz="1000" b="1" dirty="0"/>
          </a:p>
          <a:p>
            <a:endParaRPr lang="de-DE" sz="1000" dirty="0"/>
          </a:p>
          <a:p>
            <a:pPr marL="217884" indent="0">
              <a:buNone/>
            </a:pPr>
            <a:endParaRPr lang="en-US" sz="1200" dirty="0"/>
          </a:p>
          <a:p>
            <a:endParaRPr lang="de-DE" sz="1000" dirty="0"/>
          </a:p>
          <a:p>
            <a:endParaRPr lang="de-DE" sz="1000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165111-D278-988D-5270-2DA119C86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5364087" y="5452070"/>
            <a:ext cx="2880321" cy="432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F8C01A3-EB9C-227A-54FC-87F2E3310DD7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04671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05FA-F186-A3C3-A90F-242417649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11677-4AE9-26A4-D895-E12053D9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87DB2A-4228-6C47-3C36-59D12BA00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3168352"/>
          </a:xfrm>
        </p:spPr>
        <p:txBody>
          <a:bodyPr/>
          <a:lstStyle/>
          <a:p>
            <a:r>
              <a:rPr lang="de-DE" sz="1200" dirty="0"/>
              <a:t>Q7: </a:t>
            </a:r>
            <a:r>
              <a:rPr lang="en-US" sz="1200" b="1" dirty="0"/>
              <a:t>Ziyang Xu</a:t>
            </a:r>
            <a:r>
              <a:rPr lang="de-DE" sz="1200" b="1" dirty="0"/>
              <a:t>   </a:t>
            </a:r>
            <a:r>
              <a:rPr lang="en-US" sz="1200" dirty="0"/>
              <a:t>Patterns and Purposes: A Cross-Journal Analysis of AI Tool Usage in Academic Writing</a:t>
            </a:r>
            <a:br>
              <a:rPr lang="de-DE" sz="1200" dirty="0"/>
            </a:br>
            <a:r>
              <a:rPr lang="de-DE" sz="1000" dirty="0">
                <a:hlinkClick r:id="rId2"/>
              </a:rPr>
              <a:t>https://arxiv.org/pdf/2502.00632</a:t>
            </a:r>
            <a:r>
              <a:rPr lang="de-DE" sz="1000" dirty="0"/>
              <a:t> (letzter Zugriff: 2.11.2025, 19:00)</a:t>
            </a:r>
          </a:p>
          <a:p>
            <a:endParaRPr lang="de-DE" sz="1000" dirty="0"/>
          </a:p>
          <a:p>
            <a:r>
              <a:rPr lang="en-US" sz="1200" dirty="0"/>
              <a:t>Q8: </a:t>
            </a:r>
            <a:r>
              <a:rPr lang="en-US" sz="1200" b="1" dirty="0"/>
              <a:t>Jordan Usdan, Allison Connell, Pensky Harley Chang</a:t>
            </a:r>
            <a:r>
              <a:rPr lang="en-US" sz="1200" dirty="0"/>
              <a:t>  Generative AI's Impact on Graduate Student Writing Productivity and Quality  </a:t>
            </a:r>
            <a:br>
              <a:rPr lang="en-US" sz="1200" dirty="0"/>
            </a:br>
            <a:r>
              <a:rPr lang="en-US" sz="1000" dirty="0">
                <a:hlinkClick r:id="rId3"/>
              </a:rPr>
              <a:t>https://papers.ssrn.com/sol3/papers.cfm?abstract_id=4941022</a:t>
            </a:r>
            <a:r>
              <a:rPr lang="en-US" sz="1000" dirty="0"/>
              <a:t> </a:t>
            </a:r>
            <a:r>
              <a:rPr lang="de-DE" sz="1000" dirty="0"/>
              <a:t>(letzter Zugriff: 2.11.2025, 21:00)</a:t>
            </a:r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sz="1000" dirty="0"/>
            </a:br>
            <a:endParaRPr lang="en-US" sz="1000" b="1" dirty="0"/>
          </a:p>
          <a:p>
            <a:endParaRPr lang="de-DE" sz="1000" dirty="0"/>
          </a:p>
          <a:p>
            <a:endParaRPr lang="de-DE" sz="1000" b="1" dirty="0"/>
          </a:p>
          <a:p>
            <a:endParaRPr lang="de-DE" sz="1000" dirty="0"/>
          </a:p>
          <a:p>
            <a:pPr marL="217884" indent="0">
              <a:buNone/>
            </a:pPr>
            <a:endParaRPr lang="en-US" sz="1200" dirty="0"/>
          </a:p>
          <a:p>
            <a:endParaRPr lang="de-DE" sz="1000" dirty="0"/>
          </a:p>
          <a:p>
            <a:endParaRPr lang="de-DE" sz="1000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582D01-F52A-28DD-143B-5D67DD4AE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5364087" y="5452070"/>
            <a:ext cx="2880321" cy="432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8BF0B44-5100-2A9D-31A3-95FF03CC4239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1900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C98D0-60EC-EA37-1CB4-65644349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5A2A00-473D-AE35-1F2D-4EE016B9F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sz="1800" dirty="0"/>
              <a:t>Mit welchen KI-Tools zum Schreiben von akademischen Texten habt ihr schon Erfahrungen gesammelt ?</a:t>
            </a:r>
          </a:p>
          <a:p>
            <a:endParaRPr lang="de-DE" sz="1800" dirty="0"/>
          </a:p>
          <a:p>
            <a:r>
              <a:rPr lang="de-DE" sz="1800" dirty="0"/>
              <a:t>(Wie viel) wärt ihr bereit für die Verwendung zu bezahlen? </a:t>
            </a:r>
            <a:endParaRPr lang="en-US" sz="18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C2FBEC-09EB-17FE-66C6-40283FD6C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449E1E-08BE-E64C-E73C-1A41A8065774}"/>
              </a:ext>
            </a:extLst>
          </p:cNvPr>
          <p:cNvSpPr txBox="1"/>
          <p:nvPr/>
        </p:nvSpPr>
        <p:spPr>
          <a:xfrm>
            <a:off x="8523667" y="4737646"/>
            <a:ext cx="432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6970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vgu_Allgemein">
  <a:themeElements>
    <a:clrScheme name="Benutzerdefiniert 26">
      <a:dk1>
        <a:srgbClr val="000000"/>
      </a:dk1>
      <a:lt1>
        <a:srgbClr val="FFFFFF"/>
      </a:lt1>
      <a:dk2>
        <a:srgbClr val="7A003F"/>
      </a:dk2>
      <a:lt2>
        <a:srgbClr val="5D8EA6"/>
      </a:lt2>
      <a:accent1>
        <a:srgbClr val="7A003F"/>
      </a:accent1>
      <a:accent2>
        <a:srgbClr val="002D5C"/>
      </a:accent2>
      <a:accent3>
        <a:srgbClr val="FFFFFF"/>
      </a:accent3>
      <a:accent4>
        <a:srgbClr val="000000"/>
      </a:accent4>
      <a:accent5>
        <a:srgbClr val="D0ABAB"/>
      </a:accent5>
      <a:accent6>
        <a:srgbClr val="5A2724"/>
      </a:accent6>
      <a:hlink>
        <a:srgbClr val="E6003A"/>
      </a:hlink>
      <a:folHlink>
        <a:srgbClr val="F39100"/>
      </a:folHlink>
    </a:clrScheme>
    <a:fontScheme name="Musterseite">
      <a:majorFont>
        <a:latin typeface="Lucida Grande"/>
        <a:ea typeface="ヒラギノ角ゴ Pro W3"/>
        <a:cs typeface="ヒラギノ角ゴ Pro W3"/>
      </a:majorFont>
      <a:minorFont>
        <a:latin typeface="Lucida San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331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 CY" pitchFamily="-111" charset="-52"/>
            <a:ea typeface="ヒラギノ角ゴ Pro W3" pitchFamily="-111" charset="-128"/>
            <a:cs typeface="ヒラギノ角ゴ Pro W3" pitchFamily="-11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331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 CY" pitchFamily="-111" charset="-52"/>
            <a:ea typeface="ヒラギノ角ゴ Pro W3" pitchFamily="-111" charset="-128"/>
            <a:cs typeface="ヒラギノ角ゴ Pro W3" pitchFamily="-111" charset="-128"/>
          </a:defRPr>
        </a:defPPr>
      </a:lstStyle>
    </a:lnDef>
  </a:objectDefaults>
  <a:extraClrSchemeLst>
    <a:extraClrScheme>
      <a:clrScheme name="Musterseite 1">
        <a:dk1>
          <a:srgbClr val="000000"/>
        </a:dk1>
        <a:lt1>
          <a:srgbClr val="FFFFFF"/>
        </a:lt1>
        <a:dk2>
          <a:srgbClr val="3C3C3C"/>
        </a:dk2>
        <a:lt2>
          <a:srgbClr val="808080"/>
        </a:lt2>
        <a:accent1>
          <a:srgbClr val="A7171A"/>
        </a:accent1>
        <a:accent2>
          <a:srgbClr val="642C29"/>
        </a:accent2>
        <a:accent3>
          <a:srgbClr val="FFFFFF"/>
        </a:accent3>
        <a:accent4>
          <a:srgbClr val="000000"/>
        </a:accent4>
        <a:accent5>
          <a:srgbClr val="D0ABAB"/>
        </a:accent5>
        <a:accent6>
          <a:srgbClr val="5A2724"/>
        </a:accent6>
        <a:hlink>
          <a:srgbClr val="C31924"/>
        </a:hlink>
        <a:folHlink>
          <a:srgbClr val="DBC14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NF_16-9" id="{E6BE9AEC-478F-A047-9E18-8576A85EA52F}" vid="{A31C6A86-D4AC-8E4D-9BBA-6977E6C4D07D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Neu_FIN_pot</Template>
  <TotalTime>0</TotalTime>
  <Words>1402</Words>
  <Application>Microsoft Office PowerPoint</Application>
  <PresentationFormat>Bildschirmpräsentation (16:9)</PresentationFormat>
  <Paragraphs>288</Paragraphs>
  <Slides>27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3" baseType="lpstr">
      <vt:lpstr>Arial</vt:lpstr>
      <vt:lpstr>Lucida Grande</vt:lpstr>
      <vt:lpstr>Lucida Grande CY</vt:lpstr>
      <vt:lpstr>Lucida Sans Unicode</vt:lpstr>
      <vt:lpstr>Wingdings</vt:lpstr>
      <vt:lpstr>Ovgu_Allgemein</vt:lpstr>
      <vt:lpstr>Schreiben 2.0: KI im akademischen Kontext  KI in Forschung und Lehre</vt:lpstr>
      <vt:lpstr>Gliederung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Eigene Stichprobe - Daten</vt:lpstr>
      <vt:lpstr>Eigene Stichprobe - Ergebnisse</vt:lpstr>
      <vt:lpstr>Eigene Stichprobe - Ergebnisse</vt:lpstr>
      <vt:lpstr>Eigene Stichproben – Ergebnisse (DeepL)</vt:lpstr>
      <vt:lpstr>Eigene Stichproben – Ergebnisse (QuillBot)</vt:lpstr>
      <vt:lpstr>Eigene Stichproben – Ergebnisse (Perplexity)</vt:lpstr>
      <vt:lpstr>Gliederung </vt:lpstr>
      <vt:lpstr>PowerPoint-Präsentation</vt:lpstr>
      <vt:lpstr>PowerPoint-Präsentation</vt:lpstr>
      <vt:lpstr>PowerPoint-Präsentation</vt:lpstr>
      <vt:lpstr>Gliederung </vt:lpstr>
      <vt:lpstr>Plagiat oder Eigenleistung</vt:lpstr>
      <vt:lpstr>Gliederung </vt:lpstr>
      <vt:lpstr>persönliche Präferenzen</vt:lpstr>
      <vt:lpstr>Quellen</vt:lpstr>
      <vt:lpstr>Quellen</vt:lpstr>
      <vt:lpstr>Fragen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des E-Sport  Hot Topics in Entertainment Software Development</dc:title>
  <dc:creator>Nils Winterstein</dc:creator>
  <cp:lastModifiedBy>Nils Winterstein</cp:lastModifiedBy>
  <cp:revision>331</cp:revision>
  <cp:lastPrinted>2009-04-03T10:08:54Z</cp:lastPrinted>
  <dcterms:created xsi:type="dcterms:W3CDTF">2023-11-29T08:17:10Z</dcterms:created>
  <dcterms:modified xsi:type="dcterms:W3CDTF">2025-11-02T22:13:08Z</dcterms:modified>
</cp:coreProperties>
</file>